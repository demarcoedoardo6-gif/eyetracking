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71" r:id="rId4"/>
    <p:sldId id="258" r:id="rId5"/>
    <p:sldId id="263" r:id="rId6"/>
    <p:sldId id="264" r:id="rId7"/>
    <p:sldId id="284" r:id="rId8"/>
    <p:sldId id="265" r:id="rId9"/>
    <p:sldId id="266" r:id="rId10"/>
    <p:sldId id="267" r:id="rId11"/>
    <p:sldId id="268" r:id="rId12"/>
    <p:sldId id="259" r:id="rId13"/>
    <p:sldId id="273" r:id="rId14"/>
    <p:sldId id="270" r:id="rId15"/>
    <p:sldId id="269" r:id="rId16"/>
    <p:sldId id="274" r:id="rId17"/>
    <p:sldId id="261" r:id="rId18"/>
    <p:sldId id="276" r:id="rId19"/>
    <p:sldId id="277" r:id="rId20"/>
    <p:sldId id="278" r:id="rId21"/>
    <p:sldId id="281" r:id="rId22"/>
    <p:sldId id="283" r:id="rId23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9A0814B-BD12-C24A-9569-9890CC212882}" v="404" dt="2026-08-31T21:15:13.8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5"/>
  </p:normalViewPr>
  <p:slideViewPr>
    <p:cSldViewPr snapToGrid="0">
      <p:cViewPr varScale="1">
        <p:scale>
          <a:sx n="119" d="100"/>
          <a:sy n="119" d="100"/>
        </p:scale>
        <p:origin x="8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5" d="100"/>
          <a:sy n="95" d="100"/>
        </p:scale>
        <p:origin x="3152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17264A-392D-BC40-BEDA-F305887CB552}" type="datetimeFigureOut">
              <a:rPr lang="it-IT" smtClean="0"/>
              <a:t>31/08/26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B4BF05-4888-974A-9997-C2F231CBC6F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161005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B4BF05-4888-974A-9997-C2F231CBC6F6}" type="slidenum">
              <a:rPr lang="it-IT" smtClean="0"/>
              <a:t>12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641708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B4BF05-4888-974A-9997-C2F231CBC6F6}" type="slidenum">
              <a:rPr lang="it-IT" smtClean="0"/>
              <a:t>16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271849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B4BF05-4888-974A-9997-C2F231CBC6F6}" type="slidenum">
              <a:rPr lang="it-IT" smtClean="0"/>
              <a:t>17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218183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64FA730-3E6F-4BB5-E574-468F495222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C8E1E624-C417-30C0-3E2C-BE702A525A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AC7BA3F-C823-54A3-AAF7-F1E21E69D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964A6-93C8-9445-AC2C-F9763284F54A}" type="datetimeFigureOut">
              <a:rPr lang="it-IT" smtClean="0"/>
              <a:t>31/08/26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7E532EF-4686-205C-1EB0-131E3F34F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CA8CA7C-F030-B1B7-EEF7-167592180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D80-C0CC-7347-B624-F12430EBA46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317975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B90129E-65AA-239F-43C6-26990AA6E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00E92EB-EB2E-90E8-5B0B-2A4DCCF2F3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FF2F4B0-8ADD-C5B2-9E47-A4E7D058B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964A6-93C8-9445-AC2C-F9763284F54A}" type="datetimeFigureOut">
              <a:rPr lang="it-IT" smtClean="0"/>
              <a:t>31/08/26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63BDE0D-0CB8-5367-ED87-6D13E47D8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E9DEFC0-273F-99EF-C228-39D26521B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D80-C0CC-7347-B624-F12430EBA46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46369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8875509-D2FC-C895-10D7-C41930DE4E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79A3F58-1F36-3782-6C24-C07CEA6A7C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D980296-742B-7D18-0CE1-E15FD1905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964A6-93C8-9445-AC2C-F9763284F54A}" type="datetimeFigureOut">
              <a:rPr lang="it-IT" smtClean="0"/>
              <a:t>31/08/26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F9F65E3-AD9E-D02F-3000-2CE05DA55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429BB8A-1F86-D0DB-43FB-2BF05AF2E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D80-C0CC-7347-B624-F12430EBA46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670855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160DE21-5F00-DCAA-6D93-5782B07B0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4C379D1-DE0A-CA4D-D63C-60643EC953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636B468-6CF3-D74E-4F4D-E71F35E9F1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62724986-AD74-4083-F91C-F3B30847A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964A6-93C8-9445-AC2C-F9763284F54A}" type="datetimeFigureOut">
              <a:rPr lang="it-IT" smtClean="0"/>
              <a:t>31/08/26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82A48886-7510-E210-18ED-195F52859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4F8022DD-3C90-F724-3319-4A7D3BEDE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D80-C0CC-7347-B624-F12430EBA46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196536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748BD50-10FE-E795-9AD1-6378DE68B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40472DCF-688F-CE77-152D-03AB47FC5A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93FC7B94-EFAB-F1C0-717B-EEE2765369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AD78DE58-605C-5653-371B-A6B5DC59EE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AF40D0A4-2D8E-5047-C6CE-8E37DFFE21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3BA9BD25-631C-CEA9-B869-3C1703D36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964A6-93C8-9445-AC2C-F9763284F54A}" type="datetimeFigureOut">
              <a:rPr lang="it-IT" smtClean="0"/>
              <a:t>31/08/26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8FE4FE80-542F-1843-9CBD-727BD3F76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77EF515D-2973-DF9E-0870-D05009622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D80-C0CC-7347-B624-F12430EBA46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423426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5E179B3-6C53-F9CE-ADAB-A2792D90A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E7EFC637-CBD9-1A52-3710-617E7F0A7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964A6-93C8-9445-AC2C-F9763284F54A}" type="datetimeFigureOut">
              <a:rPr lang="it-IT" smtClean="0"/>
              <a:t>31/08/26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436967AF-D042-EB7B-155B-18C500EC4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7E0A23E9-2E0D-63B7-2BD2-5034FC25E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D80-C0CC-7347-B624-F12430EBA46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656009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0458B05C-4CD5-BB6E-39A8-FD846978C6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964A6-93C8-9445-AC2C-F9763284F54A}" type="datetimeFigureOut">
              <a:rPr lang="it-IT" smtClean="0"/>
              <a:t>31/08/26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815EE4C9-181B-DF24-B2DE-C10A82488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0E198D0-6F09-65FA-BBF9-195762852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D80-C0CC-7347-B624-F12430EBA46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133083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B5A72CE-24B8-3936-BCAD-549C49FAC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B6DE44A-C7BC-4B0C-DD09-BFCAE9B3B9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7DD35C5A-0122-BBBE-AEFB-C539A2A7BF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5636EB0A-3883-DD8F-A61F-6436BCCE8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964A6-93C8-9445-AC2C-F9763284F54A}" type="datetimeFigureOut">
              <a:rPr lang="it-IT" smtClean="0"/>
              <a:t>31/08/26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79A92B80-3563-F470-DBFF-785F2EEB7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1FF0B888-3D1F-A671-6A7A-AD42685BD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D80-C0CC-7347-B624-F12430EBA46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710479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370B6DF-AB32-3115-E354-6D6C2444A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1A57DACF-FD04-FEB9-D2E5-2293D23F3D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20C9266F-1A44-6B81-5047-0983F520C2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AEC83B2-F6DC-72CE-6720-2D54C43A3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964A6-93C8-9445-AC2C-F9763284F54A}" type="datetimeFigureOut">
              <a:rPr lang="it-IT" smtClean="0"/>
              <a:t>31/08/26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EB57358A-F33D-B458-D67A-58FF4E7C0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D0307ED8-4247-45AC-844C-990D6F9BD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D80-C0CC-7347-B624-F12430EBA46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868416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6B01A18-64C8-6DE0-879A-ECF00CBF6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B3D14D66-6611-6FBB-F232-36D5B355C4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684BD43-60F2-C693-6E8C-F077240BD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964A6-93C8-9445-AC2C-F9763284F54A}" type="datetimeFigureOut">
              <a:rPr lang="it-IT" smtClean="0"/>
              <a:t>31/08/26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35B89E0-19B8-2484-38EB-135741344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A713E75-40BC-0553-66B0-7CE138522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D80-C0CC-7347-B624-F12430EBA46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576274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727C8514-97DA-8DB3-27B5-D47DB37E80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1E861589-30E6-028C-D749-3C71815D9F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C4DD63C-0CB3-2C18-CDCF-0907D6158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964A6-93C8-9445-AC2C-F9763284F54A}" type="datetimeFigureOut">
              <a:rPr lang="it-IT" smtClean="0"/>
              <a:t>31/08/26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1BF8A8E-AD98-C256-9FC8-68F62AB58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9AD7814-BFE8-178D-1BC6-4B716FE0F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D80-C0CC-7347-B624-F12430EBA46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579628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88815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AFC0E4E9-9CEA-9739-37F9-4F16FF2B7A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4304C70-99C9-4748-F045-2DB08EBC02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83F798B-C889-7F69-9210-9DE9D026EA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7964A6-93C8-9445-AC2C-F9763284F54A}" type="datetimeFigureOut">
              <a:rPr lang="it-IT" smtClean="0"/>
              <a:t>31/08/26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53C4026-EE1F-1795-89F1-69B16C59E2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96A3735-F0DC-30F0-933E-CFFC9DD9C0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450D80-C0CC-7347-B624-F12430EBA46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27060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3" Type="http://schemas.openxmlformats.org/officeDocument/2006/relationships/image" Target="../media/image29.png"/><Relationship Id="rId7" Type="http://schemas.openxmlformats.org/officeDocument/2006/relationships/hyperlink" Target="file:///Users/giuseppe/Downloads/Database_Definitivo.xlsx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hyperlink" Target="https://data.mendeley.com/datasets/rtf7jjssct/1/files/d303eef8-ddb7-482e-9a22-588cf940d986" TargetMode="External"/><Relationship Id="rId4" Type="http://schemas.openxmlformats.org/officeDocument/2006/relationships/image" Target="../media/image30.png"/><Relationship Id="rId9" Type="http://schemas.openxmlformats.org/officeDocument/2006/relationships/image" Target="../media/image3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Relationship Id="rId9" Type="http://schemas.openxmlformats.org/officeDocument/2006/relationships/image" Target="../media/image5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microsoft.com/office/2007/relationships/hdphoto" Target="../media/hdphoto1.wdp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8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3C4317CF-D5D3-519D-9981-F8E5725C807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584" r="4714" b="909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7" name="Rectangle 10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CFDE9ED2-6291-2FA8-DE99-4B349DC5A7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79" y="1079702"/>
            <a:ext cx="4513569" cy="3204134"/>
          </a:xfrm>
        </p:spPr>
        <p:txBody>
          <a:bodyPr anchor="b">
            <a:normAutofit/>
          </a:bodyPr>
          <a:lstStyle/>
          <a:p>
            <a:pPr algn="l"/>
            <a:r>
              <a:rPr lang="it-IT" sz="4800" b="1" dirty="0"/>
              <a:t>Movimenti oculari e malattie neurologiche  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75559801-4EA7-4979-DDC7-E25A34D41A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>
            <a:normAutofit/>
          </a:bodyPr>
          <a:lstStyle/>
          <a:p>
            <a:pPr algn="l"/>
            <a:r>
              <a:rPr lang="it-IT" sz="2000" i="1" dirty="0"/>
              <a:t>Sviluppo di un database strutturato in ambiente MATLAB</a:t>
            </a:r>
            <a:endParaRPr lang="it-IT" sz="2000" dirty="0"/>
          </a:p>
          <a:p>
            <a:pPr algn="l"/>
            <a:endParaRPr lang="it-IT" sz="2000" dirty="0"/>
          </a:p>
        </p:txBody>
      </p:sp>
      <p:sp>
        <p:nvSpPr>
          <p:cNvPr id="18" name="Rectangle 1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0B872035-1B9D-A5AC-CED3-3728854C96F1}"/>
              </a:ext>
            </a:extLst>
          </p:cNvPr>
          <p:cNvSpPr txBox="1"/>
          <p:nvPr/>
        </p:nvSpPr>
        <p:spPr>
          <a:xfrm>
            <a:off x="537439" y="6081063"/>
            <a:ext cx="518160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 dirty="0">
                <a:solidFill>
                  <a:srgbClr val="202124"/>
                </a:solidFill>
                <a:latin typeface="Inter"/>
              </a:rPr>
              <a:t>a cura di</a:t>
            </a:r>
            <a:r>
              <a:rPr dirty="0"/>
              <a:t>
</a:t>
            </a:r>
            <a:r>
              <a:rPr sz="1650" b="1" i="0" u="none" dirty="0">
                <a:solidFill>
                  <a:srgbClr val="202124"/>
                </a:solidFill>
                <a:latin typeface="Inter"/>
              </a:rPr>
              <a:t>Salvo Giuseppe</a:t>
            </a:r>
            <a:r>
              <a:rPr sz="1650" b="0" i="0" u="none" dirty="0">
                <a:solidFill>
                  <a:srgbClr val="202124"/>
                </a:solidFill>
                <a:latin typeface="Inter"/>
              </a:rPr>
              <a:t> e </a:t>
            </a:r>
            <a:r>
              <a:rPr sz="1650" b="1" i="0" u="none" dirty="0">
                <a:solidFill>
                  <a:srgbClr val="202124"/>
                </a:solidFill>
                <a:latin typeface="Inter"/>
              </a:rPr>
              <a:t>De Marco Edoardo</a:t>
            </a:r>
          </a:p>
        </p:txBody>
      </p:sp>
    </p:spTree>
    <p:extLst>
      <p:ext uri="{BB962C8B-B14F-4D97-AF65-F5344CB8AC3E}">
        <p14:creationId xmlns:p14="http://schemas.microsoft.com/office/powerpoint/2010/main" val="6080018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3" name="TextBox 2"/>
          <p:cNvSpPr txBox="1"/>
          <p:nvPr/>
        </p:nvSpPr>
        <p:spPr>
          <a:xfrm>
            <a:off x="902043" y="879804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E7490"/>
                </a:solidFill>
                <a:latin typeface="Arial"/>
              </a:defRPr>
            </a:pPr>
            <a:r>
              <a:rPr lang="it-IT" dirty="0"/>
              <a:t>INTRODUZIONE AL PROGETTO</a:t>
            </a:r>
          </a:p>
          <a:p>
            <a:pPr>
              <a:spcBef>
                <a:spcPts val="400"/>
              </a:spcBef>
              <a:defRPr sz="2600" b="1">
                <a:solidFill>
                  <a:srgbClr val="0F172A"/>
                </a:solidFill>
                <a:latin typeface="Arial"/>
              </a:defRPr>
            </a:pPr>
            <a:r>
              <a:rPr lang="it-IT" dirty="0"/>
              <a:t>Il </a:t>
            </a:r>
            <a:r>
              <a:rPr lang="it-IT" dirty="0" err="1"/>
              <a:t>Ruolo</a:t>
            </a:r>
            <a:r>
              <a:rPr lang="it-IT" dirty="0"/>
              <a:t> </a:t>
            </a:r>
            <a:r>
              <a:rPr lang="it-IT" dirty="0" err="1"/>
              <a:t>dei</a:t>
            </a:r>
            <a:r>
              <a:rPr lang="it-IT" dirty="0"/>
              <a:t> </a:t>
            </a:r>
            <a:r>
              <a:rPr lang="it-IT" dirty="0" err="1"/>
              <a:t>Movimenti</a:t>
            </a:r>
            <a:r>
              <a:rPr lang="it-IT" dirty="0"/>
              <a:t> </a:t>
            </a:r>
            <a:r>
              <a:rPr lang="it-IT" dirty="0" err="1"/>
              <a:t>Oculari</a:t>
            </a:r>
            <a:r>
              <a:rPr lang="it-IT" dirty="0"/>
              <a:t> e il Valore del Database MATLAB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103120"/>
            <a:ext cx="324612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5" name="Rounded Rectangle 4"/>
          <p:cNvSpPr/>
          <p:nvPr/>
        </p:nvSpPr>
        <p:spPr>
          <a:xfrm>
            <a:off x="914400" y="2103120"/>
            <a:ext cx="3246120" cy="109728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6" name="TextBox 5"/>
          <p:cNvSpPr txBox="1"/>
          <p:nvPr/>
        </p:nvSpPr>
        <p:spPr>
          <a:xfrm>
            <a:off x="1143000" y="2331720"/>
            <a:ext cx="2788920" cy="2154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E7490"/>
                </a:solidFill>
                <a:latin typeface="Arial"/>
              </a:defRPr>
            </a:pPr>
            <a:r>
              <a:rPr lang="it-IT" dirty="0"/>
              <a:t>01</a:t>
            </a:r>
          </a:p>
          <a:p>
            <a:pPr>
              <a:spcBef>
                <a:spcPts val="400"/>
              </a:spcBef>
              <a:defRPr sz="1800" b="1">
                <a:solidFill>
                  <a:srgbClr val="0F172A"/>
                </a:solidFill>
                <a:latin typeface="Arial"/>
              </a:defRPr>
            </a:pPr>
            <a:r>
              <a:rPr lang="it-IT" noProof="0" dirty="0"/>
              <a:t>Finestra Neurologica</a:t>
            </a:r>
          </a:p>
          <a:p>
            <a:pPr>
              <a:spcBef>
                <a:spcPts val="200"/>
              </a:spcBef>
              <a:spcAft>
                <a:spcPts val="1400"/>
              </a:spcAft>
              <a:defRPr sz="1200">
                <a:solidFill>
                  <a:srgbClr val="64748B"/>
                </a:solidFill>
                <a:latin typeface="Arial"/>
              </a:defRPr>
            </a:pPr>
            <a:r>
              <a:rPr lang="it-IT" noProof="0" dirty="0"/>
              <a:t>I Movimenti Oculari</a:t>
            </a:r>
          </a:p>
          <a:p>
            <a:pPr>
              <a:defRPr sz="1100">
                <a:solidFill>
                  <a:srgbClr val="334155"/>
                </a:solidFill>
                <a:latin typeface="Arial"/>
              </a:defRPr>
            </a:pPr>
            <a:r>
              <a:rPr lang="it-IT" noProof="0" dirty="0"/>
              <a:t>•  I pattern oculomotori (</a:t>
            </a:r>
            <a:r>
              <a:rPr lang="it-IT" noProof="0" dirty="0" err="1"/>
              <a:t>saccadi</a:t>
            </a:r>
            <a:r>
              <a:rPr lang="it-IT" noProof="0" dirty="0"/>
              <a:t>, fissazioni) riflettono l'integrità di complessi circuiti cerebrali corticali e sottocorticali.</a:t>
            </a:r>
          </a:p>
          <a:p>
            <a:pPr>
              <a:spcBef>
                <a:spcPts val="1000"/>
              </a:spcBef>
              <a:defRPr sz="1100">
                <a:solidFill>
                  <a:srgbClr val="334155"/>
                </a:solidFill>
                <a:latin typeface="Arial"/>
              </a:defRPr>
            </a:pPr>
            <a:r>
              <a:rPr lang="it-IT" noProof="0" dirty="0"/>
              <a:t>•  Deficit anche lievi rappresentano biomarcatori precoci e non invasivi per patologie come Parkinson</a:t>
            </a:r>
            <a:r>
              <a:rPr lang="it-IT" dirty="0"/>
              <a:t> e</a:t>
            </a:r>
            <a:r>
              <a:rPr lang="it-IT" noProof="0" dirty="0"/>
              <a:t> Alzheimer.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71416" y="2103120"/>
            <a:ext cx="324612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8" name="Rounded Rectangle 7"/>
          <p:cNvSpPr/>
          <p:nvPr/>
        </p:nvSpPr>
        <p:spPr>
          <a:xfrm>
            <a:off x="4471416" y="2103120"/>
            <a:ext cx="3246120" cy="109728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9" name="TextBox 8"/>
          <p:cNvSpPr txBox="1"/>
          <p:nvPr/>
        </p:nvSpPr>
        <p:spPr>
          <a:xfrm>
            <a:off x="4700016" y="2331720"/>
            <a:ext cx="27889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B82F6"/>
                </a:solidFill>
                <a:latin typeface="Arial"/>
              </a:defRPr>
            </a:pPr>
            <a:r>
              <a:rPr lang="it-IT" dirty="0"/>
              <a:t>02</a:t>
            </a:r>
          </a:p>
          <a:p>
            <a:pPr>
              <a:spcBef>
                <a:spcPts val="400"/>
              </a:spcBef>
              <a:defRPr sz="1800" b="1">
                <a:solidFill>
                  <a:srgbClr val="0F172A"/>
                </a:solidFill>
                <a:latin typeface="Arial"/>
              </a:defRPr>
            </a:pPr>
            <a:r>
              <a:rPr lang="it-IT" noProof="0" dirty="0"/>
              <a:t>Centralizzazione Dati</a:t>
            </a:r>
          </a:p>
          <a:p>
            <a:pPr>
              <a:spcBef>
                <a:spcPts val="200"/>
              </a:spcBef>
              <a:spcAft>
                <a:spcPts val="1400"/>
              </a:spcAft>
              <a:defRPr sz="1200">
                <a:solidFill>
                  <a:srgbClr val="64748B"/>
                </a:solidFill>
                <a:latin typeface="Arial"/>
              </a:defRPr>
            </a:pPr>
            <a:r>
              <a:rPr lang="it-IT" noProof="0" dirty="0"/>
              <a:t>Il Ruolo del Database</a:t>
            </a:r>
          </a:p>
          <a:p>
            <a:pPr>
              <a:defRPr sz="1100">
                <a:solidFill>
                  <a:srgbClr val="334155"/>
                </a:solidFill>
                <a:latin typeface="Arial"/>
              </a:defRPr>
            </a:pPr>
            <a:r>
              <a:rPr lang="it-IT" noProof="0" dirty="0"/>
              <a:t>•  I dati di </a:t>
            </a:r>
            <a:r>
              <a:rPr lang="it-IT" noProof="0" dirty="0" err="1"/>
              <a:t>eye</a:t>
            </a:r>
            <a:r>
              <a:rPr lang="it-IT" noProof="0" dirty="0"/>
              <a:t>-tracking sono complessi, rumorosi ed eterogenei tra diversi soggetti e protocolli di acquisizione.</a:t>
            </a:r>
          </a:p>
          <a:p>
            <a:pPr>
              <a:spcBef>
                <a:spcPts val="1000"/>
              </a:spcBef>
              <a:defRPr sz="1100">
                <a:solidFill>
                  <a:srgbClr val="334155"/>
                </a:solidFill>
                <a:latin typeface="Arial"/>
              </a:defRPr>
            </a:pPr>
            <a:r>
              <a:rPr lang="it-IT" noProof="0" dirty="0"/>
              <a:t>•  Il database su MATLAB organizza, standardizza e rende accessibili i tracciati grezzi per analisi riproducibili e confronti statistici.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28432" y="2103120"/>
            <a:ext cx="324612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1" name="Rounded Rectangle 10"/>
          <p:cNvSpPr/>
          <p:nvPr/>
        </p:nvSpPr>
        <p:spPr>
          <a:xfrm>
            <a:off x="8028432" y="2103120"/>
            <a:ext cx="3246120" cy="10972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2" name="TextBox 11"/>
          <p:cNvSpPr txBox="1"/>
          <p:nvPr/>
        </p:nvSpPr>
        <p:spPr>
          <a:xfrm>
            <a:off x="8257032" y="2331720"/>
            <a:ext cx="2788920" cy="23237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rPr lang="it-IT" dirty="0"/>
              <a:t>03</a:t>
            </a:r>
          </a:p>
          <a:p>
            <a:pPr>
              <a:spcBef>
                <a:spcPts val="400"/>
              </a:spcBef>
              <a:defRPr sz="1800" b="1">
                <a:solidFill>
                  <a:srgbClr val="0F172A"/>
                </a:solidFill>
                <a:latin typeface="Arial"/>
              </a:defRPr>
            </a:pPr>
            <a:r>
              <a:rPr lang="it-IT" noProof="0" dirty="0"/>
              <a:t>Impatto Clinico</a:t>
            </a:r>
          </a:p>
          <a:p>
            <a:pPr>
              <a:spcBef>
                <a:spcPts val="200"/>
              </a:spcBef>
              <a:spcAft>
                <a:spcPts val="1400"/>
              </a:spcAft>
              <a:defRPr sz="1200">
                <a:solidFill>
                  <a:srgbClr val="64748B"/>
                </a:solidFill>
                <a:latin typeface="Arial"/>
              </a:defRPr>
            </a:pPr>
            <a:r>
              <a:rPr lang="it-IT" noProof="0" dirty="0"/>
              <a:t>Supporto Diagnostico</a:t>
            </a:r>
          </a:p>
          <a:p>
            <a:pPr>
              <a:defRPr sz="1100">
                <a:solidFill>
                  <a:srgbClr val="334155"/>
                </a:solidFill>
                <a:latin typeface="Arial"/>
              </a:defRPr>
            </a:pPr>
            <a:r>
              <a:rPr lang="it-IT" noProof="0" dirty="0"/>
              <a:t>•  L'unione di database e algoritmi di calcolo permette l'estrazione automatica di parametri cinematici quantitativi (velocità, ampiezza, latenza).</a:t>
            </a:r>
          </a:p>
          <a:p>
            <a:pPr>
              <a:spcBef>
                <a:spcPts val="1000"/>
              </a:spcBef>
              <a:defRPr sz="1100">
                <a:solidFill>
                  <a:srgbClr val="334155"/>
                </a:solidFill>
                <a:latin typeface="Arial"/>
              </a:defRPr>
            </a:pPr>
            <a:r>
              <a:rPr lang="it-IT" noProof="0" dirty="0"/>
              <a:t>•  Fornisce al personale clinico un supporto oggettivo per la diagnosi precoce e monitoraggio generale.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1" descr="image.png">
            <a:extLst>
              <a:ext uri="{FF2B5EF4-FFF2-40B4-BE49-F238E27FC236}">
                <a16:creationId xmlns:a16="http://schemas.microsoft.com/office/drawing/2014/main" id="{1BF94D8F-BB21-B52C-1E95-C496AFD555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781175"/>
            <a:ext cx="5143500" cy="450532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781175"/>
            <a:ext cx="5143500" cy="45053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571500"/>
            <a:ext cx="7462837" cy="1209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1A73E8"/>
                </a:solidFill>
                <a:latin typeface="Inter SemiBold"/>
              </a:rPr>
              <a:t>Introduzione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66775"/>
            <a:ext cx="7835979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50" b="1" i="0" u="none">
                <a:solidFill>
                  <a:srgbClr val="202124"/>
                </a:solidFill>
                <a:latin typeface="Inter"/>
              </a:rPr>
              <a:t>L'Occhio come Finestra sul Cervello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525" y="2238375"/>
            <a:ext cx="4580572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202124"/>
                </a:solidFill>
                <a:latin typeface="Inter"/>
              </a:rPr>
              <a:t>Circuiti Neurali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525" y="2746920"/>
            <a:ext cx="436245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5F6368"/>
                </a:solidFill>
                <a:latin typeface="Inter Medium"/>
              </a:rPr>
              <a:t>Una rete complessa</a:t>
            </a:r>
          </a:p>
        </p:txBody>
      </p:sp>
      <p:sp>
        <p:nvSpPr>
          <p:cNvPr id="8" name="Rectangle 7"/>
          <p:cNvSpPr/>
          <p:nvPr/>
        </p:nvSpPr>
        <p:spPr>
          <a:xfrm>
            <a:off x="1152525" y="3223170"/>
            <a:ext cx="4362450" cy="9525"/>
          </a:xfrm>
          <a:prstGeom prst="rect">
            <a:avLst/>
          </a:prstGeom>
          <a:solidFill>
            <a:srgbClr val="E8E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52525" y="3423195"/>
            <a:ext cx="43624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3C4043"/>
                </a:solidFill>
                <a:latin typeface="Inter"/>
              </a:rPr>
              <a:t>I movimenti oculari sono controllati da vaste aree del cervello: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7025" y="2238375"/>
            <a:ext cx="4580572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202124"/>
                </a:solidFill>
                <a:latin typeface="Inter"/>
              </a:rPr>
              <a:t>Marcatori Precoci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7025" y="2746920"/>
            <a:ext cx="436245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5F6368"/>
                </a:solidFill>
                <a:latin typeface="Inter Medium"/>
              </a:rPr>
              <a:t>Diagnosi neurodegenerativa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77025" y="3223170"/>
            <a:ext cx="4362450" cy="9525"/>
          </a:xfrm>
          <a:prstGeom prst="rect">
            <a:avLst/>
          </a:prstGeom>
          <a:solidFill>
            <a:srgbClr val="E8E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77025" y="3423195"/>
            <a:ext cx="43624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3C4043"/>
                </a:solidFill>
                <a:latin typeface="Inter"/>
              </a:rPr>
              <a:t>Le anomalie oculomotorie anticipano i classici sintomi clinici in patologie come: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5875" y="4185195"/>
            <a:ext cx="10477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3C4043"/>
                </a:solidFill>
                <a:latin typeface="Inter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90650" y="4185195"/>
            <a:ext cx="4124325" cy="285750"/>
          </a:xfrm>
          <a:prstGeom prst="rect">
            <a:avLst/>
          </a:prstGeom>
          <a:noFill/>
        </p:spPr>
        <p:txBody>
          <a:bodyPr wrap="square" lIns="104775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3C4043"/>
                </a:solidFill>
                <a:latin typeface="Inter"/>
              </a:rPr>
              <a:t>Corteccia prefrontale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5875" y="4661445"/>
            <a:ext cx="10477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3C4043"/>
                </a:solidFill>
                <a:latin typeface="Inter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90650" y="4661445"/>
            <a:ext cx="4124325" cy="285750"/>
          </a:xfrm>
          <a:prstGeom prst="rect">
            <a:avLst/>
          </a:prstGeom>
          <a:noFill/>
        </p:spPr>
        <p:txBody>
          <a:bodyPr wrap="square" lIns="104775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3C4043"/>
                </a:solidFill>
                <a:latin typeface="Inter"/>
              </a:rPr>
              <a:t>Gangli della base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5875" y="5137695"/>
            <a:ext cx="10477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3C4043"/>
                </a:solidFill>
                <a:latin typeface="Inter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90650" y="5137695"/>
            <a:ext cx="4124325" cy="285750"/>
          </a:xfrm>
          <a:prstGeom prst="rect">
            <a:avLst/>
          </a:prstGeom>
          <a:noFill/>
        </p:spPr>
        <p:txBody>
          <a:bodyPr wrap="square" lIns="104775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3C4043"/>
                </a:solidFill>
                <a:latin typeface="Inter"/>
              </a:rPr>
              <a:t>Tronco encefalico e Cervelletto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0375" y="4185195"/>
            <a:ext cx="10477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3C4043"/>
                </a:solidFill>
                <a:latin typeface="Inter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15150" y="4185195"/>
            <a:ext cx="4124325" cy="285750"/>
          </a:xfrm>
          <a:prstGeom prst="rect">
            <a:avLst/>
          </a:prstGeom>
          <a:noFill/>
        </p:spPr>
        <p:txBody>
          <a:bodyPr wrap="square" lIns="104775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3C4043"/>
                </a:solidFill>
                <a:latin typeface="Inter"/>
              </a:rPr>
              <a:t>Malattia di </a:t>
            </a:r>
            <a:r>
              <a:rPr sz="1500" b="1" i="0" u="none">
                <a:solidFill>
                  <a:srgbClr val="3C4043"/>
                </a:solidFill>
                <a:latin typeface="Inter"/>
              </a:rPr>
              <a:t>Alzheimer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0375" y="4661445"/>
            <a:ext cx="10477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3C4043"/>
                </a:solidFill>
                <a:latin typeface="Inter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15150" y="4661445"/>
            <a:ext cx="4124325" cy="285750"/>
          </a:xfrm>
          <a:prstGeom prst="rect">
            <a:avLst/>
          </a:prstGeom>
          <a:noFill/>
        </p:spPr>
        <p:txBody>
          <a:bodyPr wrap="square" lIns="104775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3C4043"/>
                </a:solidFill>
                <a:latin typeface="Inter"/>
              </a:rPr>
              <a:t>Morbo di </a:t>
            </a:r>
            <a:r>
              <a:rPr sz="1500" b="1" i="0" u="none">
                <a:solidFill>
                  <a:srgbClr val="3C4043"/>
                </a:solidFill>
                <a:latin typeface="Inter"/>
              </a:rPr>
              <a:t>Parkinson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10375" y="5137695"/>
            <a:ext cx="10477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3C4043"/>
                </a:solidFill>
                <a:latin typeface="Inter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15150" y="5137695"/>
            <a:ext cx="4124325" cy="285750"/>
          </a:xfrm>
          <a:prstGeom prst="rect">
            <a:avLst/>
          </a:prstGeom>
          <a:noFill/>
        </p:spPr>
        <p:txBody>
          <a:bodyPr wrap="square" lIns="104775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3C4043"/>
                </a:solidFill>
                <a:latin typeface="Inter"/>
              </a:rPr>
              <a:t>Sclerosi Multipla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" descr="image.png">
            <a:extLst>
              <a:ext uri="{FF2B5EF4-FFF2-40B4-BE49-F238E27FC236}">
                <a16:creationId xmlns:a16="http://schemas.microsoft.com/office/drawing/2014/main" id="{2C74A95B-21AF-3C97-A9A2-EC5D8454D5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2225" y="2153245"/>
            <a:ext cx="5057775" cy="3810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571500"/>
            <a:ext cx="2776537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1A73E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Tipi di Movimenti Oculari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866775"/>
            <a:ext cx="2915364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50" b="1" i="0" u="none" dirty="0">
                <a:solidFill>
                  <a:srgbClr val="2021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</a:t>
            </a:r>
            <a:r>
              <a:rPr sz="3450" b="1" i="0" u="none" dirty="0" err="1">
                <a:solidFill>
                  <a:srgbClr val="2021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Saccadi</a:t>
            </a:r>
            <a:endParaRPr sz="3450" b="1" i="0" u="none" dirty="0">
              <a:solidFill>
                <a:srgbClr val="20212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78906" y="1663094"/>
            <a:ext cx="5290661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it-IT" sz="2850" b="1" i="0" u="none" noProof="0" dirty="0">
                <a:solidFill>
                  <a:srgbClr val="2021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Movimenti Balistici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2457450"/>
            <a:ext cx="5038725" cy="3314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0" i="0" u="none">
                <a:solidFill>
                  <a:srgbClr val="3C40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Cosa sono le saccadi?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1750" y="2162770"/>
            <a:ext cx="5038725" cy="37909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14400" y="3063150"/>
            <a:ext cx="13335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3C40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7750" y="3061245"/>
            <a:ext cx="4752975" cy="731341"/>
          </a:xfrm>
          <a:prstGeom prst="rect">
            <a:avLst/>
          </a:prstGeom>
          <a:noFill/>
        </p:spPr>
        <p:txBody>
          <a:bodyPr wrap="square" lIns="133350" tIns="0" rIns="0" bIns="0" anchor="t">
            <a:spAutoFit/>
          </a:bodyPr>
          <a:lstStyle/>
          <a:p>
            <a:pPr>
              <a:lnSpc>
                <a:spcPts val="2879"/>
              </a:lnSpc>
            </a:pPr>
            <a:r>
              <a:rPr lang="it-IT" sz="1800" b="0" i="0" u="none" noProof="0" dirty="0">
                <a:solidFill>
                  <a:srgbClr val="3C40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Sono movimenti oculari </a:t>
            </a:r>
            <a:r>
              <a:rPr lang="it-IT" sz="1800" b="1" i="0" u="none" noProof="0" dirty="0">
                <a:solidFill>
                  <a:srgbClr val="3C40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estremamente veloci</a:t>
            </a:r>
            <a:r>
              <a:rPr lang="it-IT" sz="1800" b="0" i="0" u="none" noProof="0" dirty="0">
                <a:solidFill>
                  <a:srgbClr val="3C40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(balistici).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032617"/>
            <a:ext cx="13335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3C40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0842" y="3966042"/>
            <a:ext cx="4752975" cy="1097012"/>
          </a:xfrm>
          <a:prstGeom prst="rect">
            <a:avLst/>
          </a:prstGeom>
          <a:noFill/>
        </p:spPr>
        <p:txBody>
          <a:bodyPr wrap="square" lIns="13335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it-IT" sz="1800" b="0" i="0" u="none" noProof="0" dirty="0">
                <a:solidFill>
                  <a:srgbClr val="3C40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 permettono di spostare rapidamente lo sguardo verso un nuovo bersaglio di interesse</a:t>
            </a:r>
            <a:r>
              <a:rPr sz="1800" b="0" i="0" u="none" dirty="0">
                <a:solidFill>
                  <a:srgbClr val="3C40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4875" y="5122207"/>
            <a:ext cx="13335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3C40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1075" y="5003900"/>
            <a:ext cx="4752975" cy="731341"/>
          </a:xfrm>
          <a:prstGeom prst="rect">
            <a:avLst/>
          </a:prstGeom>
          <a:noFill/>
        </p:spPr>
        <p:txBody>
          <a:bodyPr wrap="square" lIns="13335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it-IT" sz="1800" b="0" i="0" u="none" noProof="0" dirty="0">
                <a:solidFill>
                  <a:srgbClr val="3C40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Fondamentali per l'esplorazione rapida dell'ambiente visivo.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" descr="image.png">
            <a:extLst>
              <a:ext uri="{FF2B5EF4-FFF2-40B4-BE49-F238E27FC236}">
                <a16:creationId xmlns:a16="http://schemas.microsoft.com/office/drawing/2014/main" id="{9696507A-78A1-5103-593E-A21FB2FD0B5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2225" y="2153245"/>
            <a:ext cx="5057775" cy="3810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588556"/>
            <a:ext cx="4829175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1A73E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Tipi di Movimenti Oculari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866775"/>
            <a:ext cx="5070633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it-IT" sz="3450" b="1" dirty="0">
                <a:solidFill>
                  <a:srgbClr val="2021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it-IT" sz="3450" b="1" i="0" u="none" noProof="0" dirty="0">
                <a:solidFill>
                  <a:srgbClr val="2021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Fissazione (</a:t>
            </a:r>
            <a:r>
              <a:rPr lang="it-IT" sz="3450" b="1" i="0" u="none" noProof="0" dirty="0" err="1">
                <a:solidFill>
                  <a:srgbClr val="2021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Fixation</a:t>
            </a:r>
            <a:r>
              <a:rPr lang="it-IT" sz="3450" b="1" i="0" u="none" noProof="0" dirty="0">
                <a:solidFill>
                  <a:srgbClr val="2021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630858"/>
            <a:ext cx="5290661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it-IT" sz="2850" b="1" i="0" u="none" noProof="0">
                <a:solidFill>
                  <a:srgbClr val="2021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Stabilità dello Sguardo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2299691"/>
            <a:ext cx="5038725" cy="3314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it-IT" sz="1800" b="0" i="0" u="none" noProof="0">
                <a:solidFill>
                  <a:srgbClr val="3C40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Cos'è la fissazione?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1750" y="2162770"/>
            <a:ext cx="5038725" cy="37909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14399" y="2893440"/>
            <a:ext cx="196103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 dirty="0">
                <a:solidFill>
                  <a:srgbClr val="3C40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075" y="2853782"/>
            <a:ext cx="4752975" cy="731341"/>
          </a:xfrm>
          <a:prstGeom prst="rect">
            <a:avLst/>
          </a:prstGeom>
          <a:noFill/>
        </p:spPr>
        <p:txBody>
          <a:bodyPr wrap="square" lIns="13335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it-IT" sz="1800" b="0" i="0" u="none" noProof="0">
                <a:solidFill>
                  <a:srgbClr val="3C40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 la capacità attiva di mantenere lo sguardo </a:t>
            </a:r>
            <a:r>
              <a:rPr lang="it-IT" sz="1800" b="1" i="0" u="none" noProof="0">
                <a:solidFill>
                  <a:srgbClr val="3C40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fermo e stabile</a:t>
            </a:r>
            <a:r>
              <a:rPr lang="it-IT" sz="1800" b="0" i="0" u="none" noProof="0">
                <a:solidFill>
                  <a:srgbClr val="3C40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915640"/>
            <a:ext cx="23140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 dirty="0">
                <a:solidFill>
                  <a:srgbClr val="3C40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0842" y="3826969"/>
            <a:ext cx="4752975" cy="731341"/>
          </a:xfrm>
          <a:prstGeom prst="rect">
            <a:avLst/>
          </a:prstGeom>
          <a:noFill/>
        </p:spPr>
        <p:txBody>
          <a:bodyPr wrap="square" lIns="13335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it-IT" sz="1800" b="0" i="0" u="none" noProof="0">
                <a:solidFill>
                  <a:srgbClr val="3C40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 applica su uno o più bersagli visivi stazionari.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399" y="4661656"/>
            <a:ext cx="173354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 dirty="0">
                <a:solidFill>
                  <a:srgbClr val="3C40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7750" y="4622906"/>
            <a:ext cx="4752975" cy="1097012"/>
          </a:xfrm>
          <a:prstGeom prst="rect">
            <a:avLst/>
          </a:prstGeom>
          <a:noFill/>
        </p:spPr>
        <p:txBody>
          <a:bodyPr wrap="square" lIns="13335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it-IT" sz="1800" b="0" i="0" u="none" noProof="0">
                <a:solidFill>
                  <a:srgbClr val="3C40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 è una "pausa", ma un processo neurale attivo che sopprime micromovimenti indesiderati.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" descr="image.png">
            <a:extLst>
              <a:ext uri="{FF2B5EF4-FFF2-40B4-BE49-F238E27FC236}">
                <a16:creationId xmlns:a16="http://schemas.microsoft.com/office/drawing/2014/main" id="{B52BE7EC-F5FF-42A9-4A00-4D6DB81DC31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701"/>
          <a:stretch>
            <a:fillRect/>
          </a:stretch>
        </p:blipFill>
        <p:spPr>
          <a:xfrm>
            <a:off x="329316" y="37081"/>
            <a:ext cx="11862684" cy="6857990"/>
          </a:xfrm>
          <a:custGeom>
            <a:avLst/>
            <a:gdLst/>
            <a:ahLst/>
            <a:cxnLst/>
            <a:rect l="l" t="t" r="r" b="b"/>
            <a:pathLst>
              <a:path w="11862684" h="6858000">
                <a:moveTo>
                  <a:pt x="1047342" y="0"/>
                </a:moveTo>
                <a:lnTo>
                  <a:pt x="4590463" y="0"/>
                </a:lnTo>
                <a:lnTo>
                  <a:pt x="5499874" y="0"/>
                </a:lnTo>
                <a:lnTo>
                  <a:pt x="5723425" y="0"/>
                </a:lnTo>
                <a:lnTo>
                  <a:pt x="7580390" y="0"/>
                </a:lnTo>
                <a:lnTo>
                  <a:pt x="7747884" y="0"/>
                </a:lnTo>
                <a:lnTo>
                  <a:pt x="7824084" y="0"/>
                </a:lnTo>
                <a:lnTo>
                  <a:pt x="11862684" y="0"/>
                </a:lnTo>
                <a:lnTo>
                  <a:pt x="11862684" y="6858000"/>
                </a:lnTo>
                <a:lnTo>
                  <a:pt x="7824084" y="6858000"/>
                </a:lnTo>
                <a:lnTo>
                  <a:pt x="7747884" y="6858000"/>
                </a:lnTo>
                <a:lnTo>
                  <a:pt x="7580390" y="6858000"/>
                </a:lnTo>
                <a:lnTo>
                  <a:pt x="5723425" y="6858000"/>
                </a:lnTo>
                <a:lnTo>
                  <a:pt x="5499874" y="6858000"/>
                </a:lnTo>
                <a:lnTo>
                  <a:pt x="4590463" y="6858000"/>
                </a:lnTo>
                <a:lnTo>
                  <a:pt x="1654188" y="6858000"/>
                </a:lnTo>
                <a:cubicBezTo>
                  <a:pt x="1530404" y="6786859"/>
                  <a:pt x="1412658" y="6701489"/>
                  <a:pt x="1279816" y="6658805"/>
                </a:cubicBezTo>
                <a:cubicBezTo>
                  <a:pt x="1189242" y="6630349"/>
                  <a:pt x="1101686" y="6580550"/>
                  <a:pt x="1116783" y="6431153"/>
                </a:cubicBezTo>
                <a:cubicBezTo>
                  <a:pt x="1119802" y="6388469"/>
                  <a:pt x="1095648" y="6356456"/>
                  <a:pt x="1059419" y="6367127"/>
                </a:cubicBezTo>
                <a:cubicBezTo>
                  <a:pt x="989979" y="6388469"/>
                  <a:pt x="956768" y="6327999"/>
                  <a:pt x="917520" y="6281757"/>
                </a:cubicBezTo>
                <a:cubicBezTo>
                  <a:pt x="848079" y="6199945"/>
                  <a:pt x="781658" y="6114575"/>
                  <a:pt x="669950" y="6100347"/>
                </a:cubicBezTo>
                <a:cubicBezTo>
                  <a:pt x="691084" y="6036320"/>
                  <a:pt x="727312" y="6043434"/>
                  <a:pt x="760524" y="6057663"/>
                </a:cubicBezTo>
                <a:cubicBezTo>
                  <a:pt x="848079" y="6093234"/>
                  <a:pt x="935634" y="6132361"/>
                  <a:pt x="1023188" y="6167932"/>
                </a:cubicBezTo>
                <a:cubicBezTo>
                  <a:pt x="1080552" y="6189274"/>
                  <a:pt x="1137916" y="6221287"/>
                  <a:pt x="1213395" y="6196388"/>
                </a:cubicBezTo>
                <a:cubicBezTo>
                  <a:pt x="1146974" y="6068335"/>
                  <a:pt x="1035266" y="6043434"/>
                  <a:pt x="944692" y="6004307"/>
                </a:cubicBezTo>
                <a:cubicBezTo>
                  <a:pt x="832982" y="5954508"/>
                  <a:pt x="766562" y="5862025"/>
                  <a:pt x="685045" y="5755314"/>
                </a:cubicBezTo>
                <a:cubicBezTo>
                  <a:pt x="766562" y="5726858"/>
                  <a:pt x="817887" y="5805112"/>
                  <a:pt x="884310" y="5801555"/>
                </a:cubicBezTo>
                <a:cubicBezTo>
                  <a:pt x="887328" y="5790884"/>
                  <a:pt x="893366" y="5769542"/>
                  <a:pt x="893366" y="5769542"/>
                </a:cubicBezTo>
                <a:cubicBezTo>
                  <a:pt x="784676" y="5712629"/>
                  <a:pt x="736372" y="5605917"/>
                  <a:pt x="718256" y="5474306"/>
                </a:cubicBezTo>
                <a:cubicBezTo>
                  <a:pt x="712218" y="5406721"/>
                  <a:pt x="672970" y="5385379"/>
                  <a:pt x="633720" y="5353367"/>
                </a:cubicBezTo>
                <a:cubicBezTo>
                  <a:pt x="500878" y="5243097"/>
                  <a:pt x="358980" y="5143500"/>
                  <a:pt x="247270" y="4994104"/>
                </a:cubicBezTo>
                <a:cubicBezTo>
                  <a:pt x="377094" y="5011889"/>
                  <a:pt x="479744" y="5111487"/>
                  <a:pt x="615606" y="5154171"/>
                </a:cubicBezTo>
                <a:cubicBezTo>
                  <a:pt x="506917" y="4990547"/>
                  <a:pt x="365016" y="4905177"/>
                  <a:pt x="235194" y="4805580"/>
                </a:cubicBezTo>
                <a:cubicBezTo>
                  <a:pt x="174810" y="4759339"/>
                  <a:pt x="120468" y="4702425"/>
                  <a:pt x="51026" y="4677526"/>
                </a:cubicBezTo>
                <a:cubicBezTo>
                  <a:pt x="26873" y="4670412"/>
                  <a:pt x="-15396" y="4652628"/>
                  <a:pt x="5740" y="4602828"/>
                </a:cubicBezTo>
                <a:cubicBezTo>
                  <a:pt x="23854" y="4560144"/>
                  <a:pt x="57065" y="4574373"/>
                  <a:pt x="87257" y="4585042"/>
                </a:cubicBezTo>
                <a:cubicBezTo>
                  <a:pt x="159715" y="4613499"/>
                  <a:pt x="238213" y="4613499"/>
                  <a:pt x="337844" y="4613499"/>
                </a:cubicBezTo>
                <a:cubicBezTo>
                  <a:pt x="253310" y="4478331"/>
                  <a:pt x="99332" y="4521016"/>
                  <a:pt x="26873" y="4378734"/>
                </a:cubicBezTo>
                <a:cubicBezTo>
                  <a:pt x="117448" y="4353835"/>
                  <a:pt x="186888" y="4403633"/>
                  <a:pt x="259346" y="4414305"/>
                </a:cubicBezTo>
                <a:cubicBezTo>
                  <a:pt x="325769" y="4424975"/>
                  <a:pt x="340863" y="4400076"/>
                  <a:pt x="325769" y="4321821"/>
                </a:cubicBezTo>
                <a:cubicBezTo>
                  <a:pt x="301616" y="4200882"/>
                  <a:pt x="337844" y="4140411"/>
                  <a:pt x="434458" y="4172424"/>
                </a:cubicBezTo>
                <a:cubicBezTo>
                  <a:pt x="525031" y="4204438"/>
                  <a:pt x="534089" y="4158196"/>
                  <a:pt x="509936" y="4090612"/>
                </a:cubicBezTo>
                <a:cubicBezTo>
                  <a:pt x="473706" y="3991015"/>
                  <a:pt x="512954" y="3912759"/>
                  <a:pt x="540128" y="3827390"/>
                </a:cubicBezTo>
                <a:cubicBezTo>
                  <a:pt x="582395" y="3699337"/>
                  <a:pt x="564281" y="3635309"/>
                  <a:pt x="476725" y="3539269"/>
                </a:cubicBezTo>
                <a:cubicBezTo>
                  <a:pt x="425400" y="3485914"/>
                  <a:pt x="374074" y="3439672"/>
                  <a:pt x="301616" y="3393429"/>
                </a:cubicBezTo>
                <a:cubicBezTo>
                  <a:pt x="467668" y="3368530"/>
                  <a:pt x="295577" y="3283162"/>
                  <a:pt x="352940" y="3229805"/>
                </a:cubicBezTo>
                <a:cubicBezTo>
                  <a:pt x="470686" y="3208463"/>
                  <a:pt x="564281" y="3379202"/>
                  <a:pt x="724294" y="3329402"/>
                </a:cubicBezTo>
                <a:cubicBezTo>
                  <a:pt x="531070" y="3183563"/>
                  <a:pt x="313691" y="3137322"/>
                  <a:pt x="171792" y="2941684"/>
                </a:cubicBezTo>
                <a:cubicBezTo>
                  <a:pt x="205002" y="2899000"/>
                  <a:pt x="238213" y="2941684"/>
                  <a:pt x="265385" y="2923898"/>
                </a:cubicBezTo>
                <a:cubicBezTo>
                  <a:pt x="265385" y="2913227"/>
                  <a:pt x="582395" y="2980812"/>
                  <a:pt x="600510" y="2703362"/>
                </a:cubicBezTo>
                <a:cubicBezTo>
                  <a:pt x="606548" y="2703362"/>
                  <a:pt x="612587" y="2703362"/>
                  <a:pt x="618624" y="2692689"/>
                </a:cubicBezTo>
                <a:cubicBezTo>
                  <a:pt x="651834" y="2653563"/>
                  <a:pt x="621644" y="2561080"/>
                  <a:pt x="675988" y="2553965"/>
                </a:cubicBezTo>
                <a:cubicBezTo>
                  <a:pt x="736372" y="2546851"/>
                  <a:pt x="793735" y="2514837"/>
                  <a:pt x="857136" y="2532623"/>
                </a:cubicBezTo>
                <a:cubicBezTo>
                  <a:pt x="905443" y="2546851"/>
                  <a:pt x="956768" y="2564636"/>
                  <a:pt x="1008094" y="2564636"/>
                </a:cubicBezTo>
                <a:cubicBezTo>
                  <a:pt x="1062438" y="2564636"/>
                  <a:pt x="1137916" y="2685576"/>
                  <a:pt x="1171128" y="2525509"/>
                </a:cubicBezTo>
                <a:cubicBezTo>
                  <a:pt x="1171128" y="2518395"/>
                  <a:pt x="1264720" y="2536181"/>
                  <a:pt x="1316045" y="2543294"/>
                </a:cubicBezTo>
                <a:cubicBezTo>
                  <a:pt x="1358314" y="2550408"/>
                  <a:pt x="1409640" y="2582422"/>
                  <a:pt x="1439830" y="2518395"/>
                </a:cubicBezTo>
                <a:cubicBezTo>
                  <a:pt x="1454926" y="2479267"/>
                  <a:pt x="1382466" y="2408126"/>
                  <a:pt x="1319065" y="2401012"/>
                </a:cubicBezTo>
                <a:cubicBezTo>
                  <a:pt x="1261702" y="2393898"/>
                  <a:pt x="1204338" y="2386784"/>
                  <a:pt x="1149994" y="2401012"/>
                </a:cubicBezTo>
                <a:cubicBezTo>
                  <a:pt x="1083572" y="2418796"/>
                  <a:pt x="1047342" y="2390340"/>
                  <a:pt x="1029227" y="2326314"/>
                </a:cubicBezTo>
                <a:cubicBezTo>
                  <a:pt x="1008094" y="2258731"/>
                  <a:pt x="968844" y="2223159"/>
                  <a:pt x="914500" y="2191146"/>
                </a:cubicBezTo>
                <a:cubicBezTo>
                  <a:pt x="781658" y="2112891"/>
                  <a:pt x="654854" y="2020407"/>
                  <a:pt x="509936" y="1974165"/>
                </a:cubicBezTo>
                <a:cubicBezTo>
                  <a:pt x="482764" y="1967051"/>
                  <a:pt x="449553" y="1952823"/>
                  <a:pt x="437476" y="1892353"/>
                </a:cubicBezTo>
                <a:cubicBezTo>
                  <a:pt x="829964" y="1984836"/>
                  <a:pt x="1186222" y="2223159"/>
                  <a:pt x="1590788" y="2208931"/>
                </a:cubicBezTo>
                <a:cubicBezTo>
                  <a:pt x="1482098" y="2134233"/>
                  <a:pt x="1352276" y="2130676"/>
                  <a:pt x="1234528" y="2077320"/>
                </a:cubicBezTo>
                <a:cubicBezTo>
                  <a:pt x="1319065" y="2038192"/>
                  <a:pt x="1397562" y="2080877"/>
                  <a:pt x="1476060" y="2102219"/>
                </a:cubicBezTo>
                <a:cubicBezTo>
                  <a:pt x="1542482" y="2120004"/>
                  <a:pt x="1602864" y="2123562"/>
                  <a:pt x="1608902" y="2013292"/>
                </a:cubicBezTo>
                <a:cubicBezTo>
                  <a:pt x="1608902" y="2002622"/>
                  <a:pt x="1608902" y="1995507"/>
                  <a:pt x="1608902" y="1984836"/>
                </a:cubicBezTo>
                <a:cubicBezTo>
                  <a:pt x="1584749" y="1938595"/>
                  <a:pt x="1551538" y="1917252"/>
                  <a:pt x="1509271" y="1903025"/>
                </a:cubicBezTo>
                <a:cubicBezTo>
                  <a:pt x="1485118" y="1895910"/>
                  <a:pt x="1451907" y="1881683"/>
                  <a:pt x="1451907" y="1849668"/>
                </a:cubicBezTo>
                <a:cubicBezTo>
                  <a:pt x="1454926" y="1728729"/>
                  <a:pt x="1373409" y="1693158"/>
                  <a:pt x="1294912" y="1657587"/>
                </a:cubicBezTo>
                <a:cubicBezTo>
                  <a:pt x="1337180" y="1597117"/>
                  <a:pt x="1373409" y="1639802"/>
                  <a:pt x="1406620" y="1636245"/>
                </a:cubicBezTo>
                <a:cubicBezTo>
                  <a:pt x="1427754" y="1632688"/>
                  <a:pt x="1448887" y="1629132"/>
                  <a:pt x="1448887" y="1597117"/>
                </a:cubicBezTo>
                <a:cubicBezTo>
                  <a:pt x="1448887" y="1572219"/>
                  <a:pt x="1439830" y="1540204"/>
                  <a:pt x="1418696" y="1540204"/>
                </a:cubicBezTo>
                <a:cubicBezTo>
                  <a:pt x="1285854" y="1536647"/>
                  <a:pt x="1210375" y="1365909"/>
                  <a:pt x="1071494" y="1365909"/>
                </a:cubicBezTo>
                <a:cubicBezTo>
                  <a:pt x="986960" y="1365909"/>
                  <a:pt x="1113764" y="1269868"/>
                  <a:pt x="1044324" y="1230741"/>
                </a:cubicBezTo>
                <a:cubicBezTo>
                  <a:pt x="1029227" y="1220069"/>
                  <a:pt x="1086591" y="1205842"/>
                  <a:pt x="1110744" y="1209399"/>
                </a:cubicBezTo>
                <a:cubicBezTo>
                  <a:pt x="1134897" y="1212955"/>
                  <a:pt x="1156032" y="1237855"/>
                  <a:pt x="1186222" y="1220069"/>
                </a:cubicBezTo>
                <a:cubicBezTo>
                  <a:pt x="1201318" y="1156043"/>
                  <a:pt x="1162069" y="1131144"/>
                  <a:pt x="1125840" y="1113358"/>
                </a:cubicBezTo>
                <a:cubicBezTo>
                  <a:pt x="1047342" y="1070674"/>
                  <a:pt x="968844" y="1020875"/>
                  <a:pt x="881290" y="1006647"/>
                </a:cubicBezTo>
                <a:cubicBezTo>
                  <a:pt x="851099" y="1003089"/>
                  <a:pt x="832982" y="985305"/>
                  <a:pt x="836002" y="949734"/>
                </a:cubicBezTo>
                <a:cubicBezTo>
                  <a:pt x="842040" y="903491"/>
                  <a:pt x="872232" y="917720"/>
                  <a:pt x="896385" y="921277"/>
                </a:cubicBezTo>
                <a:cubicBezTo>
                  <a:pt x="911482" y="924835"/>
                  <a:pt x="926577" y="935506"/>
                  <a:pt x="941672" y="910606"/>
                </a:cubicBezTo>
                <a:cubicBezTo>
                  <a:pt x="588434" y="658055"/>
                  <a:pt x="401247" y="672284"/>
                  <a:pt x="5740" y="465975"/>
                </a:cubicBezTo>
                <a:cubicBezTo>
                  <a:pt x="93294" y="426847"/>
                  <a:pt x="156696" y="455303"/>
                  <a:pt x="217079" y="462417"/>
                </a:cubicBezTo>
                <a:cubicBezTo>
                  <a:pt x="368036" y="480203"/>
                  <a:pt x="274442" y="512216"/>
                  <a:pt x="425400" y="533558"/>
                </a:cubicBezTo>
                <a:cubicBezTo>
                  <a:pt x="497860" y="544229"/>
                  <a:pt x="564281" y="579800"/>
                  <a:pt x="645798" y="522887"/>
                </a:cubicBezTo>
                <a:cubicBezTo>
                  <a:pt x="700142" y="483759"/>
                  <a:pt x="787696" y="526444"/>
                  <a:pt x="854118" y="558458"/>
                </a:cubicBezTo>
                <a:cubicBezTo>
                  <a:pt x="908462" y="586915"/>
                  <a:pt x="962806" y="594028"/>
                  <a:pt x="1035266" y="558458"/>
                </a:cubicBezTo>
                <a:cubicBezTo>
                  <a:pt x="968844" y="537116"/>
                  <a:pt x="917520" y="519330"/>
                  <a:pt x="866193" y="505101"/>
                </a:cubicBezTo>
                <a:cubicBezTo>
                  <a:pt x="823926" y="494431"/>
                  <a:pt x="799772" y="469532"/>
                  <a:pt x="802792" y="416176"/>
                </a:cubicBezTo>
                <a:cubicBezTo>
                  <a:pt x="802792" y="387720"/>
                  <a:pt x="793735" y="348592"/>
                  <a:pt x="823926" y="334364"/>
                </a:cubicBezTo>
                <a:cubicBezTo>
                  <a:pt x="848079" y="320135"/>
                  <a:pt x="881290" y="334364"/>
                  <a:pt x="893366" y="359262"/>
                </a:cubicBezTo>
                <a:cubicBezTo>
                  <a:pt x="908462" y="405504"/>
                  <a:pt x="923557" y="448189"/>
                  <a:pt x="974883" y="451747"/>
                </a:cubicBezTo>
                <a:cubicBezTo>
                  <a:pt x="1044324" y="458860"/>
                  <a:pt x="1005074" y="430405"/>
                  <a:pt x="992998" y="394834"/>
                </a:cubicBezTo>
                <a:cubicBezTo>
                  <a:pt x="980921" y="355706"/>
                  <a:pt x="1017152" y="345034"/>
                  <a:pt x="1041304" y="352148"/>
                </a:cubicBezTo>
                <a:cubicBezTo>
                  <a:pt x="1131878" y="384162"/>
                  <a:pt x="1225472" y="327250"/>
                  <a:pt x="1319065" y="373491"/>
                </a:cubicBezTo>
                <a:cubicBezTo>
                  <a:pt x="1294912" y="259665"/>
                  <a:pt x="1243586" y="209867"/>
                  <a:pt x="1134897" y="192082"/>
                </a:cubicBezTo>
                <a:cubicBezTo>
                  <a:pt x="1095648" y="188525"/>
                  <a:pt x="1053380" y="195638"/>
                  <a:pt x="1017152" y="163625"/>
                </a:cubicBezTo>
                <a:cubicBezTo>
                  <a:pt x="996016" y="145839"/>
                  <a:pt x="974883" y="124497"/>
                  <a:pt x="989979" y="88927"/>
                </a:cubicBezTo>
                <a:cubicBezTo>
                  <a:pt x="999036" y="64027"/>
                  <a:pt x="1023188" y="64027"/>
                  <a:pt x="1044324" y="71141"/>
                </a:cubicBezTo>
                <a:cubicBezTo>
                  <a:pt x="1131878" y="110269"/>
                  <a:pt x="1225472" y="120941"/>
                  <a:pt x="1316045" y="135168"/>
                </a:cubicBezTo>
                <a:cubicBezTo>
                  <a:pt x="1331142" y="138725"/>
                  <a:pt x="1346237" y="145839"/>
                  <a:pt x="1361334" y="110269"/>
                </a:cubicBezTo>
                <a:cubicBezTo>
                  <a:pt x="1255664" y="78255"/>
                  <a:pt x="1153012" y="35571"/>
                  <a:pt x="1047342" y="0"/>
                </a:cubicBezTo>
                <a:close/>
              </a:path>
            </a:pathLst>
          </a:custGeom>
        </p:spPr>
      </p:pic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812" y="1868032"/>
            <a:ext cx="4799869" cy="420433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0659" y="1872748"/>
            <a:ext cx="4794484" cy="419961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571500"/>
            <a:ext cx="653415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it-IT" sz="1200" b="0" i="0" u="none" noProof="0" dirty="0">
                <a:solidFill>
                  <a:srgbClr val="1A73E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Acquisizione Dati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66775"/>
            <a:ext cx="6860857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it-IT" sz="3450" b="1" i="0" u="none" noProof="0" dirty="0">
                <a:solidFill>
                  <a:srgbClr val="2021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 Scelta del "Task" (Esercizio)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525" y="2238375"/>
            <a:ext cx="4580572" cy="3489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it-IT" sz="2400" b="1" i="0" u="none" noProof="0">
                <a:solidFill>
                  <a:srgbClr val="2021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Pro-</a:t>
            </a:r>
            <a:r>
              <a:rPr lang="it-IT" sz="2400" b="1" i="0" u="none" noProof="0" dirty="0" err="1">
                <a:solidFill>
                  <a:srgbClr val="2021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saccade</a:t>
            </a:r>
            <a:endParaRPr lang="it-IT" sz="2400" b="1" i="0" u="none" noProof="0" dirty="0">
              <a:solidFill>
                <a:srgbClr val="20212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52525" y="2746920"/>
            <a:ext cx="4362450" cy="26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lang="it-IT" sz="1500" b="0" i="0" u="none" noProof="0">
                <a:solidFill>
                  <a:srgbClr val="5F636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Saccade</a:t>
            </a:r>
            <a:r>
              <a:rPr lang="it-IT" sz="1500" b="0" i="0" u="none" noProof="0" dirty="0">
                <a:solidFill>
                  <a:srgbClr val="5F636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Riflessiva</a:t>
            </a:r>
          </a:p>
        </p:txBody>
      </p:sp>
      <p:sp>
        <p:nvSpPr>
          <p:cNvPr id="8" name="Rectangle 7"/>
          <p:cNvSpPr/>
          <p:nvPr/>
        </p:nvSpPr>
        <p:spPr>
          <a:xfrm>
            <a:off x="1152525" y="3223170"/>
            <a:ext cx="4362450" cy="9525"/>
          </a:xfrm>
          <a:prstGeom prst="rect">
            <a:avLst/>
          </a:prstGeom>
          <a:solidFill>
            <a:srgbClr val="E8E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13762" y="3380327"/>
            <a:ext cx="4010040" cy="8548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lang="it-IT" sz="1500" b="1" i="0" u="none" noProof="0" dirty="0">
                <a:solidFill>
                  <a:srgbClr val="3C40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L'azione:</a:t>
            </a:r>
            <a:r>
              <a:rPr lang="it-IT" sz="1500" b="0" i="0" u="none" noProof="0" dirty="0">
                <a:solidFill>
                  <a:srgbClr val="3C40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Il paziente guarda semplicemente verso uno stimolo visivo che appare all'improvviso.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5300" y="4524159"/>
            <a:ext cx="3853223" cy="5598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lang="it-IT" sz="1500" b="1" i="0" u="none" dirty="0">
                <a:solidFill>
                  <a:srgbClr val="3C40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Utilità:</a:t>
            </a:r>
            <a:r>
              <a:rPr lang="it-IT" sz="1500" b="0" i="0" u="none" dirty="0">
                <a:solidFill>
                  <a:srgbClr val="3C40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Valuta l'integrità dei riflessi base del sistema visivo e la pura reattività motoria.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7025" y="2238375"/>
            <a:ext cx="4580572" cy="3489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it-IT" sz="2400" b="1" i="0" u="none" dirty="0">
                <a:solidFill>
                  <a:srgbClr val="2021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Anti-</a:t>
            </a:r>
            <a:r>
              <a:rPr lang="it-IT" sz="2400" b="1" i="0" u="none" dirty="0" err="1">
                <a:solidFill>
                  <a:srgbClr val="2021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saccade</a:t>
            </a:r>
            <a:endParaRPr lang="it-IT" sz="2400" b="1" i="0" u="none" dirty="0">
              <a:solidFill>
                <a:srgbClr val="20212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677025" y="2746920"/>
            <a:ext cx="4362450" cy="26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lang="it-IT" sz="1500" b="0" i="0" u="none" dirty="0">
                <a:solidFill>
                  <a:srgbClr val="5F636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Controllo Inibitorio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77025" y="3223170"/>
            <a:ext cx="4362450" cy="9525"/>
          </a:xfrm>
          <a:prstGeom prst="rect">
            <a:avLst/>
          </a:prstGeom>
          <a:solidFill>
            <a:srgbClr val="E8E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677024" y="3337370"/>
            <a:ext cx="3911977" cy="8548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lang="it-IT" sz="1500" b="1" i="0" u="none" dirty="0">
                <a:solidFill>
                  <a:srgbClr val="3C40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L'azione:</a:t>
            </a:r>
            <a:r>
              <a:rPr lang="it-IT" sz="1500" b="0" i="0" u="none" dirty="0">
                <a:solidFill>
                  <a:srgbClr val="3C40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Il paziente deve </a:t>
            </a:r>
            <a:r>
              <a:rPr lang="it-IT" sz="1500" b="1" i="0" u="none" dirty="0">
                <a:solidFill>
                  <a:srgbClr val="3C40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sopprimere l'istinto</a:t>
            </a:r>
            <a:r>
              <a:rPr lang="it-IT" sz="1500" b="0" i="0" u="none" dirty="0">
                <a:solidFill>
                  <a:srgbClr val="3C40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di guardare lo stimolo e muovere gli occhi nella direzione opposta.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7026" y="4416892"/>
            <a:ext cx="3911975" cy="8548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lang="it-IT" sz="1500" b="1" i="0" u="none" dirty="0">
                <a:solidFill>
                  <a:srgbClr val="3C40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Utilità:</a:t>
            </a:r>
            <a:r>
              <a:rPr lang="it-IT" sz="1500" b="0" i="0" u="none" dirty="0">
                <a:solidFill>
                  <a:srgbClr val="3C40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Test cruciale per misurare le funzioni esecutive (lobo frontale) e il controllo volontario.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23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Freeform: Shape 25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Rectangle 27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29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Freeform: Shape 31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4" name="Isosceles Triangle 33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7345737D-3EBD-B1F5-D136-71B14B43D2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012" y="1567832"/>
            <a:ext cx="9838323" cy="4574820"/>
          </a:xfrm>
          <a:prstGeom prst="rect">
            <a:avLst/>
          </a:prstGeom>
          <a:ln w="190500" cap="sq">
            <a:solidFill>
              <a:schemeClr val="accent1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sp>
        <p:nvSpPr>
          <p:cNvPr id="36" name="Isosceles Triangle 35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6148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" descr="image.png">
            <a:extLst>
              <a:ext uri="{FF2B5EF4-FFF2-40B4-BE49-F238E27FC236}">
                <a16:creationId xmlns:a16="http://schemas.microsoft.com/office/drawing/2014/main" id="{8F6E0455-1483-EAD2-8116-D7212A19B72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515"/>
          <a:stretch>
            <a:fillRect/>
          </a:stretch>
        </p:blipFill>
        <p:spPr>
          <a:xfrm>
            <a:off x="0" y="817675"/>
            <a:ext cx="12192000" cy="6068290"/>
          </a:xfrm>
          <a:prstGeom prst="rect">
            <a:avLst/>
          </a:prstGeom>
        </p:spPr>
      </p:pic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781175"/>
            <a:ext cx="5143500" cy="450532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781175"/>
            <a:ext cx="5143500" cy="45053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571500"/>
            <a:ext cx="6005512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it-IT" sz="1200" b="0" i="0" u="none" dirty="0">
                <a:solidFill>
                  <a:srgbClr val="1A73E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Metriche del Database: Tempi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66775"/>
            <a:ext cx="6305788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it-IT" sz="3450" b="1" i="0" u="none" dirty="0">
                <a:solidFill>
                  <a:srgbClr val="2021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Latenza (Tempo di Reazione)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525" y="2238375"/>
            <a:ext cx="4580572" cy="3489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it-IT" sz="2400" b="1" i="0" u="none" noProof="0">
                <a:solidFill>
                  <a:srgbClr val="2021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Misurata in millisecondi (</a:t>
            </a:r>
            <a:r>
              <a:rPr lang="it-IT" sz="2400" b="1" i="0" u="none" noProof="0" dirty="0" err="1">
                <a:solidFill>
                  <a:srgbClr val="2021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ms</a:t>
            </a:r>
            <a:r>
              <a:rPr lang="it-IT" sz="2400" b="1" i="0" u="none" noProof="0" dirty="0">
                <a:solidFill>
                  <a:srgbClr val="2021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525" y="2746920"/>
            <a:ext cx="4362450" cy="26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lang="it-IT" sz="1500" b="0" i="0" u="none" noProof="0" dirty="0">
                <a:solidFill>
                  <a:srgbClr val="5F636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Definizione</a:t>
            </a:r>
          </a:p>
        </p:txBody>
      </p:sp>
      <p:sp>
        <p:nvSpPr>
          <p:cNvPr id="8" name="Rectangle 7"/>
          <p:cNvSpPr/>
          <p:nvPr/>
        </p:nvSpPr>
        <p:spPr>
          <a:xfrm>
            <a:off x="1152525" y="3223170"/>
            <a:ext cx="4362450" cy="9525"/>
          </a:xfrm>
          <a:prstGeom prst="rect">
            <a:avLst/>
          </a:prstGeom>
          <a:solidFill>
            <a:srgbClr val="E8E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52525" y="3423195"/>
            <a:ext cx="436245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lang="it-IT" sz="1500" b="0" i="0" u="none" noProof="0">
                <a:solidFill>
                  <a:srgbClr val="3C40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 il tempo esatto che intercorre tra l'apparizione dello stimolo e l'inizio effettivo del movimento oculare del paziente.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7025" y="2238375"/>
            <a:ext cx="4580572" cy="3489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it-IT" sz="2400" b="1" i="0" u="none" dirty="0">
                <a:solidFill>
                  <a:srgbClr val="2021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Implicazioni Cliniche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7025" y="2746920"/>
            <a:ext cx="4362450" cy="26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lang="it-IT" sz="1500" b="0" i="0" u="none" dirty="0">
                <a:solidFill>
                  <a:srgbClr val="5F636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Rallentamento Cognitivo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77025" y="3223170"/>
            <a:ext cx="4362450" cy="9525"/>
          </a:xfrm>
          <a:prstGeom prst="rect">
            <a:avLst/>
          </a:prstGeom>
          <a:solidFill>
            <a:srgbClr val="E8E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810375" y="3423195"/>
            <a:ext cx="104775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it-IT" sz="1500" b="0" i="0" u="none" dirty="0">
                <a:solidFill>
                  <a:srgbClr val="3C40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15150" y="3423195"/>
            <a:ext cx="4124325" cy="571500"/>
          </a:xfrm>
          <a:prstGeom prst="rect">
            <a:avLst/>
          </a:prstGeom>
          <a:noFill/>
        </p:spPr>
        <p:txBody>
          <a:bodyPr wrap="square" lIns="104775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lang="it-IT" sz="1500" b="0" i="0" u="none" dirty="0">
                <a:solidFill>
                  <a:srgbClr val="3C40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 ritardo patologico è un segno chiave di degenerazione.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0375" y="4185195"/>
            <a:ext cx="104775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it-IT" sz="1500" b="0" i="0" u="none" dirty="0">
                <a:solidFill>
                  <a:srgbClr val="3C40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15150" y="4185195"/>
            <a:ext cx="4124325" cy="1143000"/>
          </a:xfrm>
          <a:prstGeom prst="rect">
            <a:avLst/>
          </a:prstGeom>
          <a:noFill/>
        </p:spPr>
        <p:txBody>
          <a:bodyPr wrap="square" lIns="104775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lang="it-IT" sz="1500" b="0" i="0" u="none" dirty="0">
                <a:solidFill>
                  <a:srgbClr val="3C40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Studi confermano che pazienti con </a:t>
            </a:r>
            <a:r>
              <a:rPr lang="it-IT" sz="1500" b="0" i="0" u="none" dirty="0">
                <a:solidFill>
                  <a:srgbClr val="D930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Alzheimer o Parkinson</a:t>
            </a:r>
            <a:r>
              <a:rPr lang="it-IT" sz="1500" b="0" i="0" u="none" dirty="0">
                <a:solidFill>
                  <a:srgbClr val="3C40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presentano tempi di latenza significativamente aumentati rispetto a soggetti sani.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1" descr="image.png">
            <a:extLst>
              <a:ext uri="{FF2B5EF4-FFF2-40B4-BE49-F238E27FC236}">
                <a16:creationId xmlns:a16="http://schemas.microsoft.com/office/drawing/2014/main" id="{45C39374-098D-C6C8-2B7F-5F64EAD2B4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3596"/>
            <a:ext cx="12290811" cy="6913581"/>
          </a:xfrm>
          <a:prstGeom prst="rect">
            <a:avLst/>
          </a:prstGeom>
        </p:spPr>
      </p:pic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781175"/>
            <a:ext cx="5143500" cy="450532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781175"/>
            <a:ext cx="5143500" cy="45053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571500"/>
            <a:ext cx="5953125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it-IT" sz="1200" b="0" i="0" u="none" noProof="0" dirty="0">
                <a:solidFill>
                  <a:srgbClr val="1A73E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Metriche del Database: Spazio e Cinematica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66775"/>
            <a:ext cx="6250781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it-IT" sz="3450" b="1" i="0" u="none" noProof="0" dirty="0">
                <a:solidFill>
                  <a:srgbClr val="2021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Ampiezza e Velocità di Picco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525" y="2238375"/>
            <a:ext cx="4580572" cy="3489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it-IT" sz="2400" b="1" i="0" u="none" noProof="0" dirty="0">
                <a:solidFill>
                  <a:srgbClr val="2021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Ampiezza (</a:t>
            </a:r>
            <a:r>
              <a:rPr lang="it-IT" sz="2400" b="1" i="0" u="none" noProof="0" dirty="0" err="1">
                <a:solidFill>
                  <a:srgbClr val="2021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deg</a:t>
            </a:r>
            <a:r>
              <a:rPr lang="it-IT" sz="2400" b="1" i="0" u="none" noProof="0" dirty="0">
                <a:solidFill>
                  <a:srgbClr val="2021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525" y="2746920"/>
            <a:ext cx="4362450" cy="26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lang="it-IT" sz="1500" b="0" i="0" u="none" noProof="0" dirty="0">
                <a:solidFill>
                  <a:srgbClr val="5F636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Precisione del movimento</a:t>
            </a:r>
          </a:p>
        </p:txBody>
      </p:sp>
      <p:sp>
        <p:nvSpPr>
          <p:cNvPr id="8" name="Rectangle 7"/>
          <p:cNvSpPr/>
          <p:nvPr/>
        </p:nvSpPr>
        <p:spPr>
          <a:xfrm>
            <a:off x="1152525" y="3223170"/>
            <a:ext cx="4362450" cy="9525"/>
          </a:xfrm>
          <a:prstGeom prst="rect">
            <a:avLst/>
          </a:prstGeom>
          <a:solidFill>
            <a:srgbClr val="E8E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677025" y="2238375"/>
            <a:ext cx="4580572" cy="3489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it-IT" sz="2400" b="1" i="0" u="none" noProof="0" dirty="0">
                <a:solidFill>
                  <a:srgbClr val="2021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Velocità di Picco (</a:t>
            </a:r>
            <a:r>
              <a:rPr lang="it-IT" sz="2400" b="1" i="0" u="none" noProof="0" dirty="0" err="1">
                <a:solidFill>
                  <a:srgbClr val="2021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deg</a:t>
            </a:r>
            <a:r>
              <a:rPr lang="it-IT" sz="2400" b="1" i="0" u="none" noProof="0" dirty="0">
                <a:solidFill>
                  <a:srgbClr val="2021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it-IT" sz="2400" b="1" i="0" u="none" noProof="0" dirty="0" err="1">
                <a:solidFill>
                  <a:srgbClr val="2021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it-IT" sz="2400" b="1" i="0" u="none" noProof="0" dirty="0">
                <a:solidFill>
                  <a:srgbClr val="2021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7025" y="2746920"/>
            <a:ext cx="4362450" cy="26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lang="it-IT" sz="1500" b="0" i="0" u="none" noProof="0" dirty="0">
                <a:solidFill>
                  <a:srgbClr val="5F636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Dinamica del Tronco Encefalico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77025" y="3223170"/>
            <a:ext cx="4362450" cy="9525"/>
          </a:xfrm>
          <a:prstGeom prst="rect">
            <a:avLst/>
          </a:prstGeom>
          <a:solidFill>
            <a:srgbClr val="E8E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285875" y="3423195"/>
            <a:ext cx="104775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it-IT" sz="1500" b="0" i="0" u="none" noProof="0" dirty="0">
                <a:solidFill>
                  <a:srgbClr val="3C40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90650" y="3423195"/>
            <a:ext cx="4124325" cy="264944"/>
          </a:xfrm>
          <a:prstGeom prst="rect">
            <a:avLst/>
          </a:prstGeom>
          <a:noFill/>
        </p:spPr>
        <p:txBody>
          <a:bodyPr wrap="square" lIns="104775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lang="it-IT" sz="1500" b="0" i="0" u="none" noProof="0" dirty="0">
                <a:solidFill>
                  <a:srgbClr val="3C40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 distanza coperta dal movimento in gradi.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5875" y="3899445"/>
            <a:ext cx="104775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it-IT" sz="1500" b="0" i="0" u="none" noProof="0" dirty="0">
                <a:solidFill>
                  <a:srgbClr val="3C40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90650" y="3899445"/>
            <a:ext cx="4124325" cy="571500"/>
          </a:xfrm>
          <a:prstGeom prst="rect">
            <a:avLst/>
          </a:prstGeom>
          <a:noFill/>
        </p:spPr>
        <p:txBody>
          <a:bodyPr wrap="square" lIns="104775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lang="it-IT" sz="1500" b="1" i="0" u="none" noProof="0" dirty="0">
                <a:solidFill>
                  <a:srgbClr val="3C40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Ipometria:</a:t>
            </a:r>
            <a:r>
              <a:rPr lang="it-IT" sz="1500" b="0" i="0" u="none" noProof="0" dirty="0">
                <a:solidFill>
                  <a:srgbClr val="3C40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L'occhio si ferma prima (Tipico nel Parkinson).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5875" y="4661445"/>
            <a:ext cx="104775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it-IT" sz="1500" b="0" i="0" u="none" noProof="0" dirty="0">
                <a:solidFill>
                  <a:srgbClr val="3C40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90650" y="4661445"/>
            <a:ext cx="4124325" cy="571500"/>
          </a:xfrm>
          <a:prstGeom prst="rect">
            <a:avLst/>
          </a:prstGeom>
          <a:noFill/>
        </p:spPr>
        <p:txBody>
          <a:bodyPr wrap="square" lIns="104775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lang="it-IT" sz="1500" b="1" i="0" u="none" noProof="0" dirty="0">
                <a:solidFill>
                  <a:srgbClr val="3C40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Ipermetria:</a:t>
            </a:r>
            <a:r>
              <a:rPr lang="it-IT" sz="1500" b="0" i="0" u="none" noProof="0" dirty="0">
                <a:solidFill>
                  <a:srgbClr val="3C40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L'occhio va oltre (Problema al cervelletto).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0375" y="3423195"/>
            <a:ext cx="104775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it-IT" sz="1500" b="0" i="0" u="none" noProof="0" dirty="0">
                <a:solidFill>
                  <a:srgbClr val="3C40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15150" y="3423195"/>
            <a:ext cx="4124325" cy="571500"/>
          </a:xfrm>
          <a:prstGeom prst="rect">
            <a:avLst/>
          </a:prstGeom>
          <a:noFill/>
        </p:spPr>
        <p:txBody>
          <a:bodyPr wrap="square" lIns="104775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lang="it-IT" sz="1500" b="0" i="0" u="none" noProof="0" dirty="0">
                <a:solidFill>
                  <a:srgbClr val="3C40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 velocità massima raggiunta durante la </a:t>
            </a:r>
            <a:r>
              <a:rPr lang="it-IT" sz="1500" b="0" i="0" u="none" noProof="0" dirty="0" err="1">
                <a:solidFill>
                  <a:srgbClr val="3C40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saccade</a:t>
            </a:r>
            <a:r>
              <a:rPr lang="it-IT" sz="1500" b="0" i="0" u="none" noProof="0" dirty="0">
                <a:solidFill>
                  <a:srgbClr val="3C40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0375" y="4185195"/>
            <a:ext cx="104775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it-IT" sz="1500" b="0" i="0" u="none" noProof="0" dirty="0">
                <a:solidFill>
                  <a:srgbClr val="3C40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15150" y="4185195"/>
            <a:ext cx="4124325" cy="857250"/>
          </a:xfrm>
          <a:prstGeom prst="rect">
            <a:avLst/>
          </a:prstGeom>
          <a:noFill/>
        </p:spPr>
        <p:txBody>
          <a:bodyPr wrap="square" lIns="104775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lang="it-IT" sz="1500" b="0" i="0" u="none" noProof="0" dirty="0">
                <a:solidFill>
                  <a:srgbClr val="3C40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Una velocità anormale (spesso ridotta) suggerisce un diretto coinvolgimento patologico del </a:t>
            </a:r>
            <a:r>
              <a:rPr lang="it-IT" sz="1500" b="1" i="0" u="none" noProof="0" dirty="0">
                <a:solidFill>
                  <a:srgbClr val="3C40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tronco encefalico</a:t>
            </a:r>
            <a:r>
              <a:rPr lang="it-IT" sz="1500" b="0" i="0" u="none" noProof="0" dirty="0">
                <a:solidFill>
                  <a:srgbClr val="3C40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1" descr="image.png">
            <a:extLst>
              <a:ext uri="{FF2B5EF4-FFF2-40B4-BE49-F238E27FC236}">
                <a16:creationId xmlns:a16="http://schemas.microsoft.com/office/drawing/2014/main" id="{17DCAC67-AB1E-CABD-4F9B-6984A542C78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pic>
        <p:nvPicPr>
          <p:cNvPr id="11" name="Picture 1" descr="image.png">
            <a:extLst>
              <a:ext uri="{FF2B5EF4-FFF2-40B4-BE49-F238E27FC236}">
                <a16:creationId xmlns:a16="http://schemas.microsoft.com/office/drawing/2014/main" id="{52DBAAC1-F2F6-67A7-87EE-BD05D580CEF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472" r="8018" b="1"/>
          <a:stretch>
            <a:fillRect/>
          </a:stretch>
        </p:blipFill>
        <p:spPr>
          <a:xfrm>
            <a:off x="5063089" y="1"/>
            <a:ext cx="7128913" cy="6853457"/>
          </a:xfrm>
          <a:custGeom>
            <a:avLst/>
            <a:gdLst/>
            <a:ahLst/>
            <a:cxnLst/>
            <a:rect l="l" t="t" r="r" b="b"/>
            <a:pathLst>
              <a:path w="7128913" h="6853457">
                <a:moveTo>
                  <a:pt x="2343548" y="0"/>
                </a:moveTo>
                <a:lnTo>
                  <a:pt x="5168877" y="0"/>
                </a:lnTo>
                <a:lnTo>
                  <a:pt x="5218299" y="19487"/>
                </a:lnTo>
                <a:cubicBezTo>
                  <a:pt x="5976640" y="340238"/>
                  <a:pt x="6607722" y="902948"/>
                  <a:pt x="7014769" y="1610837"/>
                </a:cubicBezTo>
                <a:lnTo>
                  <a:pt x="7128913" y="1827198"/>
                </a:lnTo>
                <a:lnTo>
                  <a:pt x="7128913" y="5131581"/>
                </a:lnTo>
                <a:lnTo>
                  <a:pt x="7091067" y="5210750"/>
                </a:lnTo>
                <a:cubicBezTo>
                  <a:pt x="6744936" y="5876527"/>
                  <a:pt x="6205281" y="6425584"/>
                  <a:pt x="5546646" y="6783375"/>
                </a:cubicBezTo>
                <a:lnTo>
                  <a:pt x="5409811" y="6853457"/>
                </a:lnTo>
                <a:lnTo>
                  <a:pt x="2102613" y="6853457"/>
                </a:lnTo>
                <a:lnTo>
                  <a:pt x="1965779" y="6783375"/>
                </a:lnTo>
                <a:cubicBezTo>
                  <a:pt x="794873" y="6147301"/>
                  <a:pt x="0" y="4906735"/>
                  <a:pt x="0" y="3480517"/>
                </a:cubicBezTo>
                <a:cubicBezTo>
                  <a:pt x="0" y="1924643"/>
                  <a:pt x="945964" y="589711"/>
                  <a:pt x="2294125" y="19487"/>
                </a:cubicBezTo>
                <a:close/>
              </a:path>
            </a:pathLst>
          </a:custGeom>
        </p:spPr>
      </p:pic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1781175"/>
            <a:ext cx="7620000" cy="450532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571500"/>
            <a:ext cx="4148137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it-IT" sz="1200" b="0" i="0" u="none" noProof="0" dirty="0">
                <a:solidFill>
                  <a:srgbClr val="1A73E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Metriche del Database: Inseguimento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866775"/>
            <a:ext cx="4355544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it-IT" sz="3450" b="1" i="0" u="none" noProof="0" dirty="0">
                <a:solidFill>
                  <a:srgbClr val="2021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Guadagno </a:t>
            </a:r>
            <a:r>
              <a:rPr lang="it-IT" sz="3450" b="1" i="0" u="none" noProof="0" dirty="0" err="1">
                <a:solidFill>
                  <a:srgbClr val="2021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Pursuit</a:t>
            </a:r>
            <a:endParaRPr lang="it-IT" sz="3450" b="1" i="0" u="none" noProof="0" dirty="0">
              <a:solidFill>
                <a:srgbClr val="20212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676525" y="2238375"/>
            <a:ext cx="7180897" cy="3489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it-IT" sz="2400" b="1" i="0" u="none" noProof="0" dirty="0">
                <a:solidFill>
                  <a:srgbClr val="2021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Fluidità di tracciamento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76525" y="2746920"/>
            <a:ext cx="6838950" cy="26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lang="it-IT" sz="1500" b="0" i="0" u="none" noProof="0" dirty="0">
                <a:solidFill>
                  <a:srgbClr val="5F636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Rapporto tra Velocità Occhio / Velocità Bersaglio</a:t>
            </a:r>
          </a:p>
        </p:txBody>
      </p:sp>
      <p:sp>
        <p:nvSpPr>
          <p:cNvPr id="7" name="Rectangle 6"/>
          <p:cNvSpPr/>
          <p:nvPr/>
        </p:nvSpPr>
        <p:spPr>
          <a:xfrm>
            <a:off x="2676525" y="3223170"/>
            <a:ext cx="6838950" cy="9525"/>
          </a:xfrm>
          <a:prstGeom prst="rect">
            <a:avLst/>
          </a:prstGeom>
          <a:solidFill>
            <a:srgbClr val="E8E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676525" y="3423195"/>
            <a:ext cx="68389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lang="it-IT" sz="1500" b="0" i="0" u="none" noProof="0" dirty="0">
                <a:solidFill>
                  <a:srgbClr val="3C40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Nei test di Smooth </a:t>
            </a:r>
            <a:r>
              <a:rPr lang="it-IT" sz="1500" b="0" i="0" u="none" noProof="0" dirty="0" err="1">
                <a:solidFill>
                  <a:srgbClr val="3C40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Pursuit</a:t>
            </a:r>
            <a:r>
              <a:rPr lang="it-IT" sz="1500" b="0" i="0" u="none" noProof="0" dirty="0">
                <a:solidFill>
                  <a:srgbClr val="3C40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un valore ottimale di guadagno è molto vicino a 1 (l'occhio segue perfettamente l'oggetto).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76525" y="4375695"/>
            <a:ext cx="683895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lang="it-IT" sz="1500" b="1" i="0" u="none" noProof="0" dirty="0">
                <a:solidFill>
                  <a:srgbClr val="3C40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Rilevanza Clinica:</a:t>
            </a:r>
            <a:r>
              <a:rPr lang="it-IT" sz="1500" b="0" i="0" u="none" noProof="0" dirty="0">
                <a:solidFill>
                  <a:srgbClr val="3C40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 pazienti con Alzheimer mostrano costantemente un </a:t>
            </a:r>
            <a:r>
              <a:rPr lang="it-IT" sz="1500" b="0" i="0" u="none" noProof="0" dirty="0">
                <a:solidFill>
                  <a:srgbClr val="D930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guadagno ridotto</a:t>
            </a:r>
            <a:r>
              <a:rPr lang="it-IT" sz="1500" b="0" i="0" u="none" noProof="0" dirty="0">
                <a:solidFill>
                  <a:srgbClr val="3C40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Non riuscendo a seguire fluidamente il bersaglio, il loro cervello deve ricorrere a continue "piccole </a:t>
            </a:r>
            <a:r>
              <a:rPr lang="it-IT" sz="1500" b="0" i="0" u="none" noProof="0" dirty="0" err="1">
                <a:solidFill>
                  <a:srgbClr val="3C40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saccadi</a:t>
            </a:r>
            <a:r>
              <a:rPr lang="it-IT" sz="1500" b="0" i="0" u="none" noProof="0" dirty="0">
                <a:solidFill>
                  <a:srgbClr val="3C40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correttive" per recuperare il ritardo.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" descr="image.png">
            <a:extLst>
              <a:ext uri="{FF2B5EF4-FFF2-40B4-BE49-F238E27FC236}">
                <a16:creationId xmlns:a16="http://schemas.microsoft.com/office/drawing/2014/main" id="{FFBBF861-D566-3100-7DB6-45AD7852587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"/>
          <a:stretch>
            <a:fillRect/>
          </a:stretch>
        </p:blipFill>
        <p:spPr>
          <a:xfrm>
            <a:off x="-1" y="-10757"/>
            <a:ext cx="12192000" cy="6857922"/>
          </a:xfrm>
          <a:prstGeom prst="rect">
            <a:avLst/>
          </a:prstGeom>
        </p:spPr>
      </p:pic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781175"/>
            <a:ext cx="3365450" cy="450532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3200" y="1781175"/>
            <a:ext cx="3365450" cy="45053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4400" y="1781175"/>
            <a:ext cx="3365450" cy="45053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2000" y="571500"/>
            <a:ext cx="5491162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it-IT" sz="1200" b="0" i="0" u="none" noProof="0" dirty="0">
                <a:solidFill>
                  <a:srgbClr val="1A73E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Metriche del Database: Analisi Cognitiva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866775"/>
            <a:ext cx="5765720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it-IT" sz="3450" b="1" i="0" u="none" noProof="0" dirty="0">
                <a:solidFill>
                  <a:srgbClr val="2021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Errori, Attenzione e Sforzo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49538" y="2971800"/>
            <a:ext cx="1790223" cy="3000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it-IT" sz="1950" b="1" i="0" u="none" noProof="0" dirty="0">
                <a:solidFill>
                  <a:srgbClr val="2021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Error Rate (%)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7275" y="3457575"/>
            <a:ext cx="2774900" cy="12576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lang="it-IT" sz="1350" b="0" i="0" u="none" noProof="0" dirty="0">
                <a:solidFill>
                  <a:srgbClr val="3C40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Misura quante volte il paziente sbaglia il test (es. Anti-</a:t>
            </a:r>
            <a:r>
              <a:rPr lang="it-IT" sz="1350" b="0" i="0" u="none" noProof="0" dirty="0" err="1">
                <a:solidFill>
                  <a:srgbClr val="3C40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saccadi</a:t>
            </a:r>
            <a:r>
              <a:rPr lang="it-IT" sz="1350" b="0" i="0" u="none" noProof="0" dirty="0">
                <a:solidFill>
                  <a:srgbClr val="3C40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). Un tasso elevato indica disfunzione nei </a:t>
            </a:r>
            <a:r>
              <a:rPr lang="it-IT" sz="1350" b="1" i="0" u="none" noProof="0" dirty="0">
                <a:solidFill>
                  <a:srgbClr val="3C40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circuiti frontali</a:t>
            </a:r>
            <a:r>
              <a:rPr lang="it-IT" sz="1350" b="0" i="0" u="none" noProof="0" dirty="0">
                <a:solidFill>
                  <a:srgbClr val="3C40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 perdita del controllo inibitorio volontario.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55708" y="2971800"/>
            <a:ext cx="2280285" cy="3000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it-IT" sz="1950" b="1" i="0" u="none" noProof="0" dirty="0">
                <a:solidFill>
                  <a:srgbClr val="2021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Durata Fissazione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8475" y="3457575"/>
            <a:ext cx="2774900" cy="1285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lang="it-IT" sz="1350" b="0" i="0" u="none" noProof="0" dirty="0">
                <a:solidFill>
                  <a:srgbClr val="3C40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Tempo di sguardo stabile. L'instabilità e periodi di fissazione troppo brevi sono ricorrenti nell'</a:t>
            </a:r>
            <a:r>
              <a:rPr lang="it-IT" sz="1350" b="1" i="0" u="none" noProof="0" dirty="0">
                <a:solidFill>
                  <a:srgbClr val="3C40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Alzheimer</a:t>
            </a:r>
            <a:r>
              <a:rPr lang="it-IT" sz="1350" b="0" i="0" u="none" noProof="0" dirty="0">
                <a:solidFill>
                  <a:srgbClr val="3C40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 causa del deterioramento dell'attenzione.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86906" y="2971800"/>
            <a:ext cx="2320290" cy="3000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it-IT" sz="1950" b="1" i="0" u="none" noProof="0" dirty="0">
                <a:solidFill>
                  <a:srgbClr val="2021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Diametro Pupillare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9675" y="3457575"/>
            <a:ext cx="2774900" cy="1285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lang="it-IT" sz="1350" b="0" i="0" u="none" noProof="0" dirty="0">
                <a:solidFill>
                  <a:srgbClr val="3C40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Oltre alla luce, un aumento del diametro è proporzionale al "carico cognitivo". Valuta quanta </a:t>
            </a:r>
            <a:r>
              <a:rPr lang="it-IT" sz="1350" b="1" i="0" u="none" noProof="0" dirty="0">
                <a:solidFill>
                  <a:srgbClr val="3C40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fatica mentale</a:t>
            </a:r>
            <a:r>
              <a:rPr lang="it-IT" sz="1350" b="0" i="0" u="none" noProof="0" dirty="0">
                <a:solidFill>
                  <a:srgbClr val="3C40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il paziente spende per completare il test.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16050" y="2219325"/>
            <a:ext cx="457200" cy="4572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95826" y="2219325"/>
            <a:ext cx="400050" cy="4572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89876" y="2219325"/>
            <a:ext cx="51435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7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9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11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Rectangle 13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Isosceles Triangle 15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Elemento grafico 3">
            <a:extLst>
              <a:ext uri="{FF2B5EF4-FFF2-40B4-BE49-F238E27FC236}">
                <a16:creationId xmlns:a16="http://schemas.microsoft.com/office/drawing/2014/main" id="{784B4703-73DA-7CBD-4D7D-EFB3680BE8D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8828" y="232473"/>
            <a:ext cx="9699736" cy="6580222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6C65BAE1-E0B9-7A6A-ED34-F0EE5B4321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0445" y="6429209"/>
            <a:ext cx="1356502" cy="406138"/>
          </a:xfrm>
          <a:prstGeom prst="rect">
            <a:avLst/>
          </a:prstGeom>
        </p:spPr>
      </p:pic>
      <p:sp>
        <p:nvSpPr>
          <p:cNvPr id="8" name="Rettangolo 7">
            <a:extLst>
              <a:ext uri="{FF2B5EF4-FFF2-40B4-BE49-F238E27FC236}">
                <a16:creationId xmlns:a16="http://schemas.microsoft.com/office/drawing/2014/main" id="{67E028E6-7A62-CCB1-CEDF-25E96E0A34E0}"/>
              </a:ext>
            </a:extLst>
          </p:cNvPr>
          <p:cNvSpPr/>
          <p:nvPr/>
        </p:nvSpPr>
        <p:spPr>
          <a:xfrm>
            <a:off x="4069570" y="5721108"/>
            <a:ext cx="3776971" cy="67710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it-IT" sz="3800" b="1" dirty="0">
                <a:ln/>
                <a:solidFill>
                  <a:schemeClr val="accent4"/>
                </a:solidFill>
              </a:rPr>
              <a:t>DIAGRAMMA ER</a:t>
            </a:r>
          </a:p>
        </p:txBody>
      </p:sp>
    </p:spTree>
    <p:extLst>
      <p:ext uri="{BB962C8B-B14F-4D97-AF65-F5344CB8AC3E}">
        <p14:creationId xmlns:p14="http://schemas.microsoft.com/office/powerpoint/2010/main" val="3342774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3000">
              <a:schemeClr val="accent4"/>
            </a:gs>
            <a:gs pos="83000">
              <a:srgbClr val="00B0F0"/>
            </a:gs>
            <a:gs pos="99000">
              <a:srgbClr val="00B0F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1" descr="image.png">
            <a:extLst>
              <a:ext uri="{FF2B5EF4-FFF2-40B4-BE49-F238E27FC236}">
                <a16:creationId xmlns:a16="http://schemas.microsoft.com/office/drawing/2014/main" id="{EC6BF5C5-7C82-E327-4978-5C3AA6EEF8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1" y="2651670"/>
            <a:ext cx="2547937" cy="28194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5187" y="2651670"/>
            <a:ext cx="2547937" cy="2819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74" y="2651670"/>
            <a:ext cx="2547937" cy="28194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2562" y="2651670"/>
            <a:ext cx="2547937" cy="2819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360408" y="3766095"/>
            <a:ext cx="970121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it-IT" sz="1800" b="1" i="0" u="none" noProof="0" dirty="0">
                <a:solidFill>
                  <a:srgbClr val="005088"/>
                </a:solidFill>
                <a:latin typeface="Merriweather"/>
              </a:rPr>
              <a:t>Pazienti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7250" y="4299495"/>
            <a:ext cx="1976437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lang="it-IT" sz="1350" b="0" i="0" u="none" noProof="0" dirty="0">
                <a:solidFill>
                  <a:srgbClr val="121212"/>
                </a:solidFill>
                <a:latin typeface="DM Sans"/>
              </a:rPr>
              <a:t>ID, dati anagrafici ed anni di scolarità. (Outer Join per preservare lo storico).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59091" y="3766095"/>
            <a:ext cx="104013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it-IT" sz="1800" b="1" i="0" u="none" noProof="0" dirty="0">
                <a:solidFill>
                  <a:srgbClr val="005088"/>
                </a:solidFill>
                <a:latin typeface="Merriweather"/>
              </a:rPr>
              <a:t>Diagnosi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90937" y="4299495"/>
            <a:ext cx="1976437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lang="it-IT" sz="1350" b="0" i="0" u="none" noProof="0" dirty="0">
                <a:solidFill>
                  <a:srgbClr val="121212"/>
                </a:solidFill>
                <a:latin typeface="DM Sans"/>
              </a:rPr>
              <a:t>Etichette cliniche di base: Controllo, Morbo di Parkinson e Alzheimer.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57749" y="3766095"/>
            <a:ext cx="1510188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it-IT" sz="1800" b="1" i="0" u="none" noProof="0" dirty="0">
                <a:solidFill>
                  <a:srgbClr val="005088"/>
                </a:solidFill>
                <a:latin typeface="Merriweather"/>
              </a:rPr>
              <a:t>Acquisizione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4625" y="4299495"/>
            <a:ext cx="1976437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lang="it-IT" sz="1350" b="0" i="0" u="none" noProof="0" dirty="0">
                <a:solidFill>
                  <a:srgbClr val="121212"/>
                </a:solidFill>
                <a:latin typeface="DM Sans"/>
              </a:rPr>
              <a:t>Identificativo sessione hardware per le registrazioni Eye-Tracking.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11464" y="3766095"/>
            <a:ext cx="1070133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it-IT" sz="1800" b="1" i="0" u="none" noProof="0" dirty="0">
                <a:solidFill>
                  <a:srgbClr val="005088"/>
                </a:solidFill>
                <a:latin typeface="Merriweather"/>
              </a:rPr>
              <a:t>Metriche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58312" y="4299495"/>
            <a:ext cx="1976437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lang="it-IT" sz="1350" b="0" i="0" u="none" noProof="0" dirty="0">
                <a:solidFill>
                  <a:srgbClr val="121212"/>
                </a:solidFill>
                <a:latin typeface="DM Sans"/>
              </a:rPr>
              <a:t>Dati cinematici estratti: Latenza, Ampiezza, Velocità ed Error Rate.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7343" y="3127920"/>
            <a:ext cx="476250" cy="3810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88656" y="3127920"/>
            <a:ext cx="381000" cy="3810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74718" y="3127920"/>
            <a:ext cx="476250" cy="3810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56031" y="3127920"/>
            <a:ext cx="381000" cy="381000"/>
          </a:xfrm>
          <a:prstGeom prst="rect">
            <a:avLst/>
          </a:prstGeom>
        </p:spPr>
      </p:pic>
      <p:sp>
        <p:nvSpPr>
          <p:cNvPr id="22" name="TextBox 11">
            <a:extLst>
              <a:ext uri="{FF2B5EF4-FFF2-40B4-BE49-F238E27FC236}">
                <a16:creationId xmlns:a16="http://schemas.microsoft.com/office/drawing/2014/main" id="{749117C9-B0E9-CF76-FE2B-DCB73FA845DE}"/>
              </a:ext>
            </a:extLst>
          </p:cNvPr>
          <p:cNvSpPr txBox="1"/>
          <p:nvPr/>
        </p:nvSpPr>
        <p:spPr>
          <a:xfrm>
            <a:off x="553865" y="675632"/>
            <a:ext cx="11601450" cy="4810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lang="it-IT" sz="3300" b="1" i="0" u="none" noProof="0" dirty="0">
                <a:solidFill>
                  <a:srgbClr val="00508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Architettura del </a:t>
            </a:r>
            <a:r>
              <a:rPr lang="it-IT" sz="3300" b="1" dirty="0">
                <a:solidFill>
                  <a:srgbClr val="00508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it-IT" sz="3300" b="1" i="0" u="none" noProof="0" dirty="0" err="1">
                <a:solidFill>
                  <a:srgbClr val="00508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atabase</a:t>
            </a:r>
            <a:endParaRPr lang="it-IT" sz="3300" b="1" i="0" u="none" noProof="0" dirty="0">
              <a:solidFill>
                <a:srgbClr val="00508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1" descr="image.png">
            <a:extLst>
              <a:ext uri="{FF2B5EF4-FFF2-40B4-BE49-F238E27FC236}">
                <a16:creationId xmlns:a16="http://schemas.microsoft.com/office/drawing/2014/main" id="{93D24349-9148-63A2-83C1-1ECF9796AF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414587"/>
            <a:ext cx="3048000" cy="3581251"/>
          </a:xfrm>
          <a:prstGeom prst="rect">
            <a:avLst/>
          </a:prstGeom>
          <a:solidFill>
            <a:srgbClr val="00B0F0"/>
          </a:solidFill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414587"/>
            <a:ext cx="3048000" cy="3581251"/>
          </a:xfrm>
          <a:prstGeom prst="rect">
            <a:avLst/>
          </a:prstGeom>
          <a:solidFill>
            <a:srgbClr val="00B0F0"/>
          </a:solidFill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0" y="2414587"/>
            <a:ext cx="3048000" cy="3581251"/>
          </a:xfrm>
          <a:prstGeom prst="rect">
            <a:avLst/>
          </a:prstGeom>
          <a:solidFill>
            <a:srgbClr val="00B0F0"/>
          </a:solidFill>
        </p:spPr>
      </p:pic>
      <p:sp>
        <p:nvSpPr>
          <p:cNvPr id="6" name="TextBox 5"/>
          <p:cNvSpPr txBox="1"/>
          <p:nvPr/>
        </p:nvSpPr>
        <p:spPr>
          <a:xfrm>
            <a:off x="762000" y="571500"/>
            <a:ext cx="8861107" cy="561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it-IT" sz="3600" b="0" i="0" u="none" noProof="0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Acquisizione e Pre-processing dei dati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7275" y="3757612"/>
            <a:ext cx="245745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it-IT" sz="1200" b="1" i="0" u="none" noProof="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275" y="4043362"/>
            <a:ext cx="2580322" cy="297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35"/>
              </a:lnSpc>
            </a:pPr>
            <a:r>
              <a:rPr lang="it-IT" sz="1950" b="1" i="0" u="none" noProof="0" dirty="0">
                <a:solidFill>
                  <a:srgbClr val="F1F5F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Estrazione Dati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7275" y="4508152"/>
            <a:ext cx="245745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it-IT" sz="1350" b="0" i="0" u="none" noProof="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Estrazione dei dati grezzi dal repository accademico </a:t>
            </a:r>
            <a:r>
              <a:rPr lang="it-IT" sz="1350" b="0" i="0" u="none" noProof="0" dirty="0" err="1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Mendeley</a:t>
            </a:r>
            <a:r>
              <a:rPr lang="it-IT" sz="1350" b="0" i="0" u="none" noProof="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Data.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5750" y="4052738"/>
            <a:ext cx="190500" cy="3048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867275" y="3757612"/>
            <a:ext cx="245745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it-IT" sz="1200" b="1" i="0" u="none" noProof="0" dirty="0">
                <a:solidFill>
                  <a:srgbClr val="34D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 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67275" y="4043362"/>
            <a:ext cx="2580322" cy="297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35"/>
              </a:lnSpc>
            </a:pPr>
            <a:r>
              <a:rPr lang="it-IT" sz="1950" b="1" i="0" u="none" noProof="0" dirty="0">
                <a:solidFill>
                  <a:srgbClr val="F1F5F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</a:t>
            </a:r>
            <a:r>
              <a:rPr lang="it-IT" sz="1950" b="1" i="0" u="none" noProof="0" dirty="0" err="1">
                <a:solidFill>
                  <a:srgbClr val="F1F5F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Cleaning</a:t>
            </a:r>
            <a:endParaRPr lang="it-IT" sz="1950" b="1" i="0" u="none" noProof="0" dirty="0">
              <a:solidFill>
                <a:srgbClr val="F1F5F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867275" y="4508152"/>
            <a:ext cx="245745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it-IT" sz="1350" b="0" i="0" u="none" noProof="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Prima fase di pulizia, gestione dei valori anomali e filtraggio iniziale in ambiente Excel.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5750" y="4052738"/>
            <a:ext cx="190500" cy="3048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677275" y="3757612"/>
            <a:ext cx="245745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it-IT" sz="1200" b="1" i="0" u="none" noProof="0" dirty="0">
                <a:solidFill>
                  <a:schemeClr val="accent3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 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77275" y="4043362"/>
            <a:ext cx="2580322" cy="297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35"/>
              </a:lnSpc>
            </a:pPr>
            <a:r>
              <a:rPr lang="it-IT" sz="1950" b="1" i="0" u="none" noProof="0" dirty="0">
                <a:solidFill>
                  <a:srgbClr val="F1F5F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Conversione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77275" y="4508152"/>
            <a:ext cx="2457450" cy="1097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it-IT" sz="1350" b="0" i="0" u="none" noProof="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Conversione dei dati strutturati dal formato Excel a CSV per l'elaborazione algoritmica e compatibilità universale. </a:t>
            </a:r>
          </a:p>
        </p:txBody>
      </p:sp>
      <p:pic>
        <p:nvPicPr>
          <p:cNvPr id="26" name="Immagine 25">
            <a:hlinkClick r:id="rId5"/>
            <a:extLst>
              <a:ext uri="{FF2B5EF4-FFF2-40B4-BE49-F238E27FC236}">
                <a16:creationId xmlns:a16="http://schemas.microsoft.com/office/drawing/2014/main" id="{A218806B-3131-D2C7-10E7-4FD13D2F687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7275" y="2732055"/>
            <a:ext cx="919806" cy="919806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27" name="Elemento grafico 26" descr="Microsoft Excel | Software per fogli di calcolo online gratuito">
            <a:hlinkClick r:id="rId7"/>
            <a:extLst>
              <a:ext uri="{FF2B5EF4-FFF2-40B4-BE49-F238E27FC236}">
                <a16:creationId xmlns:a16="http://schemas.microsoft.com/office/drawing/2014/main" id="{05DDDEF1-7BBF-ABEB-F8DA-6A88C12AE0C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735030" y="2657532"/>
            <a:ext cx="973791" cy="973791"/>
          </a:xfrm>
          <a:prstGeom prst="rect">
            <a:avLst/>
          </a:prstGeom>
        </p:spPr>
      </p:pic>
      <p:pic>
        <p:nvPicPr>
          <p:cNvPr id="32" name="Immagine 31">
            <a:extLst>
              <a:ext uri="{FF2B5EF4-FFF2-40B4-BE49-F238E27FC236}">
                <a16:creationId xmlns:a16="http://schemas.microsoft.com/office/drawing/2014/main" id="{477EE5E6-4C2B-9B5A-17CE-F1905E20AA0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38660" y="2644217"/>
            <a:ext cx="912341" cy="91234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" descr="image.png">
            <a:extLst>
              <a:ext uri="{FF2B5EF4-FFF2-40B4-BE49-F238E27FC236}">
                <a16:creationId xmlns:a16="http://schemas.microsoft.com/office/drawing/2014/main" id="{3F3DDC80-4BF9-4951-EFD8-A471622A14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1">
            <a:extLst>
              <a:ext uri="{FF2B5EF4-FFF2-40B4-BE49-F238E27FC236}">
                <a16:creationId xmlns:a16="http://schemas.microsoft.com/office/drawing/2014/main" id="{3D73CA50-9280-A87C-CD1B-CA08C322DAF3}"/>
              </a:ext>
            </a:extLst>
          </p:cNvPr>
          <p:cNvSpPr txBox="1"/>
          <p:nvPr/>
        </p:nvSpPr>
        <p:spPr>
          <a:xfrm>
            <a:off x="571500" y="571500"/>
            <a:ext cx="11601450" cy="4810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lang="it-IT" sz="3300" b="1" i="0" u="none" noProof="0" dirty="0">
                <a:solidFill>
                  <a:srgbClr val="00508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Screening Multi-Parametrico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B1A42EF1-7204-98ED-749B-F5CBD9D803C1}"/>
              </a:ext>
            </a:extLst>
          </p:cNvPr>
          <p:cNvSpPr txBox="1"/>
          <p:nvPr/>
        </p:nvSpPr>
        <p:spPr>
          <a:xfrm>
            <a:off x="657225" y="1479999"/>
            <a:ext cx="5803429" cy="11720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2250"/>
              </a:lnSpc>
            </a:pPr>
            <a:r>
              <a:rPr lang="it-IT" b="0" i="0" u="none" noProof="0" dirty="0">
                <a:solidFill>
                  <a:srgbClr val="12121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 </a:t>
            </a:r>
            <a:r>
              <a:rPr lang="it-IT" b="0" i="1" u="none" noProof="0" dirty="0">
                <a:solidFill>
                  <a:srgbClr val="12121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prima query </a:t>
            </a:r>
            <a:r>
              <a:rPr lang="it-IT" b="0" i="0" u="none" noProof="0" dirty="0">
                <a:solidFill>
                  <a:srgbClr val="12121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analizza il gruppo </a:t>
            </a:r>
            <a:r>
              <a:rPr lang="it-IT" b="1" i="0" u="none" noProof="0" dirty="0">
                <a:solidFill>
                  <a:srgbClr val="12121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"Controllo"</a:t>
            </a:r>
            <a:r>
              <a:rPr lang="it-IT" b="0" i="0" u="none" noProof="0" dirty="0">
                <a:solidFill>
                  <a:srgbClr val="12121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calcolando la media dei parametri (Latenza, Error</a:t>
            </a:r>
            <a:r>
              <a:rPr lang="it-IT" dirty="0">
                <a:solidFill>
                  <a:srgbClr val="12121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b="0" i="0" u="none" noProof="0" dirty="0">
                <a:solidFill>
                  <a:srgbClr val="12121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rate) per evidenziare soggetti apparentemente sani ma con indicatori anomali.</a:t>
            </a:r>
          </a:p>
        </p:txBody>
      </p:sp>
      <p:pic>
        <p:nvPicPr>
          <p:cNvPr id="4" name="Picture 8" descr="image.png">
            <a:extLst>
              <a:ext uri="{FF2B5EF4-FFF2-40B4-BE49-F238E27FC236}">
                <a16:creationId xmlns:a16="http://schemas.microsoft.com/office/drawing/2014/main" id="{4BDE0CE4-1763-5EE1-5E17-0B827227FB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038201"/>
            <a:ext cx="228600" cy="28302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85875DB-4F81-4D92-FCD5-7A57F9850A2B}"/>
              </a:ext>
            </a:extLst>
          </p:cNvPr>
          <p:cNvSpPr txBox="1"/>
          <p:nvPr/>
        </p:nvSpPr>
        <p:spPr>
          <a:xfrm>
            <a:off x="1000124" y="2964722"/>
            <a:ext cx="4810125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lang="it-IT" sz="1500" b="1" i="0" u="none" noProof="0" dirty="0">
                <a:solidFill>
                  <a:srgbClr val="12121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Ritardo Saccadico:</a:t>
            </a:r>
            <a:r>
              <a:rPr lang="it-IT" sz="1500" b="0" i="0" u="none" noProof="0" dirty="0">
                <a:solidFill>
                  <a:srgbClr val="12121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Individuazione dei soggetti con latenza media superiore ai 350 ms.</a:t>
            </a:r>
          </a:p>
        </p:txBody>
      </p:sp>
      <p:pic>
        <p:nvPicPr>
          <p:cNvPr id="6" name="Picture 9" descr="image.png">
            <a:extLst>
              <a:ext uri="{FF2B5EF4-FFF2-40B4-BE49-F238E27FC236}">
                <a16:creationId xmlns:a16="http://schemas.microsoft.com/office/drawing/2014/main" id="{2AE7787D-A767-80D4-A0D5-B1F0BE86F9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950856"/>
            <a:ext cx="228600" cy="247650"/>
          </a:xfrm>
          <a:prstGeom prst="rect">
            <a:avLst/>
          </a:prstGeom>
        </p:spPr>
      </p:pic>
      <p:sp>
        <p:nvSpPr>
          <p:cNvPr id="7" name="TextBox 5">
            <a:extLst>
              <a:ext uri="{FF2B5EF4-FFF2-40B4-BE49-F238E27FC236}">
                <a16:creationId xmlns:a16="http://schemas.microsoft.com/office/drawing/2014/main" id="{E9B4994A-54C0-DC89-7CF6-9263D83848D4}"/>
              </a:ext>
            </a:extLst>
          </p:cNvPr>
          <p:cNvSpPr txBox="1"/>
          <p:nvPr/>
        </p:nvSpPr>
        <p:spPr>
          <a:xfrm>
            <a:off x="1000123" y="3904208"/>
            <a:ext cx="4810125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lang="it-IT" sz="1500" b="1" i="0" u="none" noProof="0" dirty="0">
                <a:solidFill>
                  <a:srgbClr val="12121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Error Rate:</a:t>
            </a:r>
            <a:r>
              <a:rPr lang="it-IT" sz="1500" b="0" i="0" u="none" noProof="0" dirty="0">
                <a:solidFill>
                  <a:srgbClr val="12121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Filtro applicato per percentuali di errori superiori alla soglia critica del 10%.</a:t>
            </a:r>
          </a:p>
        </p:txBody>
      </p:sp>
      <p:pic>
        <p:nvPicPr>
          <p:cNvPr id="8" name="Picture 10" descr="image.png">
            <a:extLst>
              <a:ext uri="{FF2B5EF4-FFF2-40B4-BE49-F238E27FC236}">
                <a16:creationId xmlns:a16="http://schemas.microsoft.com/office/drawing/2014/main" id="{93BF89A1-25A8-DC44-68A8-CCA1C148D6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704307"/>
            <a:ext cx="285750" cy="247650"/>
          </a:xfrm>
          <a:prstGeom prst="rect">
            <a:avLst/>
          </a:prstGeom>
        </p:spPr>
      </p:pic>
      <p:sp>
        <p:nvSpPr>
          <p:cNvPr id="9" name="TextBox 6">
            <a:extLst>
              <a:ext uri="{FF2B5EF4-FFF2-40B4-BE49-F238E27FC236}">
                <a16:creationId xmlns:a16="http://schemas.microsoft.com/office/drawing/2014/main" id="{0424F462-127E-975C-3C56-3457B9CCDD10}"/>
              </a:ext>
            </a:extLst>
          </p:cNvPr>
          <p:cNvSpPr txBox="1"/>
          <p:nvPr/>
        </p:nvSpPr>
        <p:spPr>
          <a:xfrm>
            <a:off x="1000123" y="4723771"/>
            <a:ext cx="4810125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lang="it-IT" sz="1500" b="1" i="0" u="none" noProof="0" dirty="0">
                <a:solidFill>
                  <a:srgbClr val="12121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Screening Precoce:</a:t>
            </a:r>
            <a:r>
              <a:rPr lang="it-IT" sz="1500" b="0" i="0" u="none" noProof="0" dirty="0">
                <a:solidFill>
                  <a:srgbClr val="12121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Individuazione del target «soggetti a rischio»  per interventi medici tempestivi.</a:t>
            </a:r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CF1E5D61-9AF1-F3E7-9F65-FAE66196F9C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53524" y="1555208"/>
            <a:ext cx="3747584" cy="3747584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30535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8900899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A287B843-8BBB-2D25-5F10-881AB30655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65466" y="0"/>
            <a:ext cx="12192000" cy="6858000"/>
          </a:xfrm>
          <a:prstGeom prst="rect">
            <a:avLst/>
          </a:prstGeom>
        </p:spPr>
      </p:pic>
      <p:pic>
        <p:nvPicPr>
          <p:cNvPr id="3" name="Picture 1" descr="image.png">
            <a:extLst>
              <a:ext uri="{FF2B5EF4-FFF2-40B4-BE49-F238E27FC236}">
                <a16:creationId xmlns:a16="http://schemas.microsoft.com/office/drawing/2014/main" id="{02C30DCE-C349-CCE6-B622-2FFE93743C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107"/>
            <a:ext cx="12192000" cy="6858000"/>
          </a:xfrm>
          <a:prstGeom prst="rect">
            <a:avLst/>
          </a:prstGeom>
        </p:spPr>
      </p:pic>
      <p:pic>
        <p:nvPicPr>
          <p:cNvPr id="4" name="Immagine 3">
            <a:extLst>
              <a:ext uri="{FF2B5EF4-FFF2-40B4-BE49-F238E27FC236}">
                <a16:creationId xmlns:a16="http://schemas.microsoft.com/office/drawing/2014/main" id="{13FEBEC6-66A7-6E07-8102-5ED40C7E8D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466" y="98854"/>
            <a:ext cx="4059216" cy="6765360"/>
          </a:xfrm>
          <a:prstGeom prst="rect">
            <a:avLst/>
          </a:prstGeom>
          <a:ln w="190500" cap="sq">
            <a:solidFill>
              <a:schemeClr val="accent1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sp>
        <p:nvSpPr>
          <p:cNvPr id="5" name="TextBox 8">
            <a:extLst>
              <a:ext uri="{FF2B5EF4-FFF2-40B4-BE49-F238E27FC236}">
                <a16:creationId xmlns:a16="http://schemas.microsoft.com/office/drawing/2014/main" id="{88485004-B4B5-C0BE-2D51-1ACDBC345434}"/>
              </a:ext>
            </a:extLst>
          </p:cNvPr>
          <p:cNvSpPr txBox="1"/>
          <p:nvPr/>
        </p:nvSpPr>
        <p:spPr>
          <a:xfrm>
            <a:off x="4774590" y="956787"/>
            <a:ext cx="11601450" cy="4810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lang="it-IT" sz="3300" b="1" i="0" u="none" noProof="0" dirty="0">
                <a:solidFill>
                  <a:srgbClr val="00508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Teoria della Riserva Cognitiva</a:t>
            </a:r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92DC5868-4AFB-4932-9FE5-6F61A2D29205}"/>
              </a:ext>
            </a:extLst>
          </p:cNvPr>
          <p:cNvSpPr txBox="1"/>
          <p:nvPr/>
        </p:nvSpPr>
        <p:spPr>
          <a:xfrm>
            <a:off x="4774590" y="1612976"/>
            <a:ext cx="5580371" cy="8660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lang="it-IT" sz="1500" b="0" i="0" u="none" noProof="0" dirty="0">
                <a:solidFill>
                  <a:srgbClr val="12121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Nella seconda query, i pazienti sono raggruppati per livello di istruzione ("Fino al Diploma" vs "Laurea"). L'analisi dimostra l'effetto compensativo della neuroplasticità.</a:t>
            </a:r>
          </a:p>
        </p:txBody>
      </p:sp>
      <p:pic>
        <p:nvPicPr>
          <p:cNvPr id="8" name="Picture 3" descr="image.png">
            <a:extLst>
              <a:ext uri="{FF2B5EF4-FFF2-40B4-BE49-F238E27FC236}">
                <a16:creationId xmlns:a16="http://schemas.microsoft.com/office/drawing/2014/main" id="{D5CFE4C0-F209-B2DF-497D-9742BF4B76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47245" y="3328790"/>
            <a:ext cx="5238750" cy="1638300"/>
          </a:xfrm>
          <a:prstGeom prst="rect">
            <a:avLst/>
          </a:prstGeom>
        </p:spPr>
      </p:pic>
      <p:sp>
        <p:nvSpPr>
          <p:cNvPr id="7" name="TextBox 5">
            <a:extLst>
              <a:ext uri="{FF2B5EF4-FFF2-40B4-BE49-F238E27FC236}">
                <a16:creationId xmlns:a16="http://schemas.microsoft.com/office/drawing/2014/main" id="{BBB099CF-6941-AEFC-F257-2CE84955ED84}"/>
              </a:ext>
            </a:extLst>
          </p:cNvPr>
          <p:cNvSpPr txBox="1"/>
          <p:nvPr/>
        </p:nvSpPr>
        <p:spPr>
          <a:xfrm>
            <a:off x="5485370" y="3584592"/>
            <a:ext cx="5000625" cy="276999"/>
          </a:xfrm>
          <a:prstGeom prst="rect">
            <a:avLst/>
          </a:prstGeom>
          <a:noFill/>
        </p:spPr>
        <p:txBody>
          <a:bodyPr wrap="square" lIns="323850" tIns="0" rIns="0" bIns="0" anchor="t">
            <a:spAutoFit/>
          </a:bodyPr>
          <a:lstStyle/>
          <a:p>
            <a:pPr algn="l"/>
            <a:r>
              <a:rPr lang="it-IT" b="1" dirty="0">
                <a:solidFill>
                  <a:srgbClr val="11CA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Conclusione</a:t>
            </a:r>
            <a:endParaRPr lang="it-IT" sz="1800" b="1" i="0" u="none" noProof="0" dirty="0">
              <a:solidFill>
                <a:srgbClr val="11CA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Picture 7" descr="image.png">
            <a:extLst>
              <a:ext uri="{FF2B5EF4-FFF2-40B4-BE49-F238E27FC236}">
                <a16:creationId xmlns:a16="http://schemas.microsoft.com/office/drawing/2014/main" id="{235B0284-39AD-BE2D-9447-B7EA17A094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53803" y="3584592"/>
            <a:ext cx="228600" cy="228600"/>
          </a:xfrm>
          <a:prstGeom prst="rect">
            <a:avLst/>
          </a:prstGeom>
        </p:spPr>
      </p:pic>
      <p:sp>
        <p:nvSpPr>
          <p:cNvPr id="10" name="TextBox 6">
            <a:extLst>
              <a:ext uri="{FF2B5EF4-FFF2-40B4-BE49-F238E27FC236}">
                <a16:creationId xmlns:a16="http://schemas.microsoft.com/office/drawing/2014/main" id="{BF978396-0932-1409-F3C4-4973EC3E0C88}"/>
              </a:ext>
            </a:extLst>
          </p:cNvPr>
          <p:cNvSpPr txBox="1"/>
          <p:nvPr/>
        </p:nvSpPr>
        <p:spPr>
          <a:xfrm>
            <a:off x="5568103" y="3897693"/>
            <a:ext cx="476250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lang="it-IT" sz="1350" b="0" i="0" u="none" noProof="0" dirty="0">
                <a:solidFill>
                  <a:srgbClr val="F3F0D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Un'alta scolarità (&gt;13 anni) riduce sistematicamente l'Error Rate visivo sia nel gruppo di controllo che nei quadri neurodegenerativi.</a:t>
            </a:r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D7711CAF-C502-A620-F6AE-0D9E3192D60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3934" y="6178378"/>
            <a:ext cx="3502279" cy="580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850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B41A9BA2-A96E-BF6F-4619-8439B8410AA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701"/>
          <a:stretch>
            <a:fillRect/>
          </a:stretch>
        </p:blipFill>
        <p:spPr>
          <a:xfrm>
            <a:off x="329316" y="17951"/>
            <a:ext cx="11862684" cy="6857990"/>
          </a:xfrm>
          <a:custGeom>
            <a:avLst/>
            <a:gdLst/>
            <a:ahLst/>
            <a:cxnLst/>
            <a:rect l="l" t="t" r="r" b="b"/>
            <a:pathLst>
              <a:path w="11862684" h="6858000">
                <a:moveTo>
                  <a:pt x="1047342" y="0"/>
                </a:moveTo>
                <a:lnTo>
                  <a:pt x="4590463" y="0"/>
                </a:lnTo>
                <a:lnTo>
                  <a:pt x="5499874" y="0"/>
                </a:lnTo>
                <a:lnTo>
                  <a:pt x="5723425" y="0"/>
                </a:lnTo>
                <a:lnTo>
                  <a:pt x="7580390" y="0"/>
                </a:lnTo>
                <a:lnTo>
                  <a:pt x="7747884" y="0"/>
                </a:lnTo>
                <a:lnTo>
                  <a:pt x="7824084" y="0"/>
                </a:lnTo>
                <a:lnTo>
                  <a:pt x="11862684" y="0"/>
                </a:lnTo>
                <a:lnTo>
                  <a:pt x="11862684" y="6858000"/>
                </a:lnTo>
                <a:lnTo>
                  <a:pt x="7824084" y="6858000"/>
                </a:lnTo>
                <a:lnTo>
                  <a:pt x="7747884" y="6858000"/>
                </a:lnTo>
                <a:lnTo>
                  <a:pt x="7580390" y="6858000"/>
                </a:lnTo>
                <a:lnTo>
                  <a:pt x="5723425" y="6858000"/>
                </a:lnTo>
                <a:lnTo>
                  <a:pt x="5499874" y="6858000"/>
                </a:lnTo>
                <a:lnTo>
                  <a:pt x="4590463" y="6858000"/>
                </a:lnTo>
                <a:lnTo>
                  <a:pt x="1654188" y="6858000"/>
                </a:lnTo>
                <a:cubicBezTo>
                  <a:pt x="1530404" y="6786859"/>
                  <a:pt x="1412658" y="6701489"/>
                  <a:pt x="1279816" y="6658805"/>
                </a:cubicBezTo>
                <a:cubicBezTo>
                  <a:pt x="1189242" y="6630349"/>
                  <a:pt x="1101686" y="6580550"/>
                  <a:pt x="1116783" y="6431153"/>
                </a:cubicBezTo>
                <a:cubicBezTo>
                  <a:pt x="1119802" y="6388469"/>
                  <a:pt x="1095648" y="6356456"/>
                  <a:pt x="1059419" y="6367127"/>
                </a:cubicBezTo>
                <a:cubicBezTo>
                  <a:pt x="989979" y="6388469"/>
                  <a:pt x="956768" y="6327999"/>
                  <a:pt x="917520" y="6281757"/>
                </a:cubicBezTo>
                <a:cubicBezTo>
                  <a:pt x="848079" y="6199945"/>
                  <a:pt x="781658" y="6114575"/>
                  <a:pt x="669950" y="6100347"/>
                </a:cubicBezTo>
                <a:cubicBezTo>
                  <a:pt x="691084" y="6036320"/>
                  <a:pt x="727312" y="6043434"/>
                  <a:pt x="760524" y="6057663"/>
                </a:cubicBezTo>
                <a:cubicBezTo>
                  <a:pt x="848079" y="6093234"/>
                  <a:pt x="935634" y="6132361"/>
                  <a:pt x="1023188" y="6167932"/>
                </a:cubicBezTo>
                <a:cubicBezTo>
                  <a:pt x="1080552" y="6189274"/>
                  <a:pt x="1137916" y="6221287"/>
                  <a:pt x="1213395" y="6196388"/>
                </a:cubicBezTo>
                <a:cubicBezTo>
                  <a:pt x="1146974" y="6068335"/>
                  <a:pt x="1035266" y="6043434"/>
                  <a:pt x="944692" y="6004307"/>
                </a:cubicBezTo>
                <a:cubicBezTo>
                  <a:pt x="832982" y="5954508"/>
                  <a:pt x="766562" y="5862025"/>
                  <a:pt x="685045" y="5755314"/>
                </a:cubicBezTo>
                <a:cubicBezTo>
                  <a:pt x="766562" y="5726858"/>
                  <a:pt x="817887" y="5805112"/>
                  <a:pt x="884310" y="5801555"/>
                </a:cubicBezTo>
                <a:cubicBezTo>
                  <a:pt x="887328" y="5790884"/>
                  <a:pt x="893366" y="5769542"/>
                  <a:pt x="893366" y="5769542"/>
                </a:cubicBezTo>
                <a:cubicBezTo>
                  <a:pt x="784676" y="5712629"/>
                  <a:pt x="736372" y="5605917"/>
                  <a:pt x="718256" y="5474306"/>
                </a:cubicBezTo>
                <a:cubicBezTo>
                  <a:pt x="712218" y="5406721"/>
                  <a:pt x="672970" y="5385379"/>
                  <a:pt x="633720" y="5353367"/>
                </a:cubicBezTo>
                <a:cubicBezTo>
                  <a:pt x="500878" y="5243097"/>
                  <a:pt x="358980" y="5143500"/>
                  <a:pt x="247270" y="4994104"/>
                </a:cubicBezTo>
                <a:cubicBezTo>
                  <a:pt x="377094" y="5011889"/>
                  <a:pt x="479744" y="5111487"/>
                  <a:pt x="615606" y="5154171"/>
                </a:cubicBezTo>
                <a:cubicBezTo>
                  <a:pt x="506917" y="4990547"/>
                  <a:pt x="365016" y="4905177"/>
                  <a:pt x="235194" y="4805580"/>
                </a:cubicBezTo>
                <a:cubicBezTo>
                  <a:pt x="174810" y="4759339"/>
                  <a:pt x="120468" y="4702425"/>
                  <a:pt x="51026" y="4677526"/>
                </a:cubicBezTo>
                <a:cubicBezTo>
                  <a:pt x="26873" y="4670412"/>
                  <a:pt x="-15396" y="4652628"/>
                  <a:pt x="5740" y="4602828"/>
                </a:cubicBezTo>
                <a:cubicBezTo>
                  <a:pt x="23854" y="4560144"/>
                  <a:pt x="57065" y="4574373"/>
                  <a:pt x="87257" y="4585042"/>
                </a:cubicBezTo>
                <a:cubicBezTo>
                  <a:pt x="159715" y="4613499"/>
                  <a:pt x="238213" y="4613499"/>
                  <a:pt x="337844" y="4613499"/>
                </a:cubicBezTo>
                <a:cubicBezTo>
                  <a:pt x="253310" y="4478331"/>
                  <a:pt x="99332" y="4521016"/>
                  <a:pt x="26873" y="4378734"/>
                </a:cubicBezTo>
                <a:cubicBezTo>
                  <a:pt x="117448" y="4353835"/>
                  <a:pt x="186888" y="4403633"/>
                  <a:pt x="259346" y="4414305"/>
                </a:cubicBezTo>
                <a:cubicBezTo>
                  <a:pt x="325769" y="4424975"/>
                  <a:pt x="340863" y="4400076"/>
                  <a:pt x="325769" y="4321821"/>
                </a:cubicBezTo>
                <a:cubicBezTo>
                  <a:pt x="301616" y="4200882"/>
                  <a:pt x="337844" y="4140411"/>
                  <a:pt x="434458" y="4172424"/>
                </a:cubicBezTo>
                <a:cubicBezTo>
                  <a:pt x="525031" y="4204438"/>
                  <a:pt x="534089" y="4158196"/>
                  <a:pt x="509936" y="4090612"/>
                </a:cubicBezTo>
                <a:cubicBezTo>
                  <a:pt x="473706" y="3991015"/>
                  <a:pt x="512954" y="3912759"/>
                  <a:pt x="540128" y="3827390"/>
                </a:cubicBezTo>
                <a:cubicBezTo>
                  <a:pt x="582395" y="3699337"/>
                  <a:pt x="564281" y="3635309"/>
                  <a:pt x="476725" y="3539269"/>
                </a:cubicBezTo>
                <a:cubicBezTo>
                  <a:pt x="425400" y="3485914"/>
                  <a:pt x="374074" y="3439672"/>
                  <a:pt x="301616" y="3393429"/>
                </a:cubicBezTo>
                <a:cubicBezTo>
                  <a:pt x="467668" y="3368530"/>
                  <a:pt x="295577" y="3283162"/>
                  <a:pt x="352940" y="3229805"/>
                </a:cubicBezTo>
                <a:cubicBezTo>
                  <a:pt x="470686" y="3208463"/>
                  <a:pt x="564281" y="3379202"/>
                  <a:pt x="724294" y="3329402"/>
                </a:cubicBezTo>
                <a:cubicBezTo>
                  <a:pt x="531070" y="3183563"/>
                  <a:pt x="313691" y="3137322"/>
                  <a:pt x="171792" y="2941684"/>
                </a:cubicBezTo>
                <a:cubicBezTo>
                  <a:pt x="205002" y="2899000"/>
                  <a:pt x="238213" y="2941684"/>
                  <a:pt x="265385" y="2923898"/>
                </a:cubicBezTo>
                <a:cubicBezTo>
                  <a:pt x="265385" y="2913227"/>
                  <a:pt x="582395" y="2980812"/>
                  <a:pt x="600510" y="2703362"/>
                </a:cubicBezTo>
                <a:cubicBezTo>
                  <a:pt x="606548" y="2703362"/>
                  <a:pt x="612587" y="2703362"/>
                  <a:pt x="618624" y="2692689"/>
                </a:cubicBezTo>
                <a:cubicBezTo>
                  <a:pt x="651834" y="2653563"/>
                  <a:pt x="621644" y="2561080"/>
                  <a:pt x="675988" y="2553965"/>
                </a:cubicBezTo>
                <a:cubicBezTo>
                  <a:pt x="736372" y="2546851"/>
                  <a:pt x="793735" y="2514837"/>
                  <a:pt x="857136" y="2532623"/>
                </a:cubicBezTo>
                <a:cubicBezTo>
                  <a:pt x="905443" y="2546851"/>
                  <a:pt x="956768" y="2564636"/>
                  <a:pt x="1008094" y="2564636"/>
                </a:cubicBezTo>
                <a:cubicBezTo>
                  <a:pt x="1062438" y="2564636"/>
                  <a:pt x="1137916" y="2685576"/>
                  <a:pt x="1171128" y="2525509"/>
                </a:cubicBezTo>
                <a:cubicBezTo>
                  <a:pt x="1171128" y="2518395"/>
                  <a:pt x="1264720" y="2536181"/>
                  <a:pt x="1316045" y="2543294"/>
                </a:cubicBezTo>
                <a:cubicBezTo>
                  <a:pt x="1358314" y="2550408"/>
                  <a:pt x="1409640" y="2582422"/>
                  <a:pt x="1439830" y="2518395"/>
                </a:cubicBezTo>
                <a:cubicBezTo>
                  <a:pt x="1454926" y="2479267"/>
                  <a:pt x="1382466" y="2408126"/>
                  <a:pt x="1319065" y="2401012"/>
                </a:cubicBezTo>
                <a:cubicBezTo>
                  <a:pt x="1261702" y="2393898"/>
                  <a:pt x="1204338" y="2386784"/>
                  <a:pt x="1149994" y="2401012"/>
                </a:cubicBezTo>
                <a:cubicBezTo>
                  <a:pt x="1083572" y="2418796"/>
                  <a:pt x="1047342" y="2390340"/>
                  <a:pt x="1029227" y="2326314"/>
                </a:cubicBezTo>
                <a:cubicBezTo>
                  <a:pt x="1008094" y="2258731"/>
                  <a:pt x="968844" y="2223159"/>
                  <a:pt x="914500" y="2191146"/>
                </a:cubicBezTo>
                <a:cubicBezTo>
                  <a:pt x="781658" y="2112891"/>
                  <a:pt x="654854" y="2020407"/>
                  <a:pt x="509936" y="1974165"/>
                </a:cubicBezTo>
                <a:cubicBezTo>
                  <a:pt x="482764" y="1967051"/>
                  <a:pt x="449553" y="1952823"/>
                  <a:pt x="437476" y="1892353"/>
                </a:cubicBezTo>
                <a:cubicBezTo>
                  <a:pt x="829964" y="1984836"/>
                  <a:pt x="1186222" y="2223159"/>
                  <a:pt x="1590788" y="2208931"/>
                </a:cubicBezTo>
                <a:cubicBezTo>
                  <a:pt x="1482098" y="2134233"/>
                  <a:pt x="1352276" y="2130676"/>
                  <a:pt x="1234528" y="2077320"/>
                </a:cubicBezTo>
                <a:cubicBezTo>
                  <a:pt x="1319065" y="2038192"/>
                  <a:pt x="1397562" y="2080877"/>
                  <a:pt x="1476060" y="2102219"/>
                </a:cubicBezTo>
                <a:cubicBezTo>
                  <a:pt x="1542482" y="2120004"/>
                  <a:pt x="1602864" y="2123562"/>
                  <a:pt x="1608902" y="2013292"/>
                </a:cubicBezTo>
                <a:cubicBezTo>
                  <a:pt x="1608902" y="2002622"/>
                  <a:pt x="1608902" y="1995507"/>
                  <a:pt x="1608902" y="1984836"/>
                </a:cubicBezTo>
                <a:cubicBezTo>
                  <a:pt x="1584749" y="1938595"/>
                  <a:pt x="1551538" y="1917252"/>
                  <a:pt x="1509271" y="1903025"/>
                </a:cubicBezTo>
                <a:cubicBezTo>
                  <a:pt x="1485118" y="1895910"/>
                  <a:pt x="1451907" y="1881683"/>
                  <a:pt x="1451907" y="1849668"/>
                </a:cubicBezTo>
                <a:cubicBezTo>
                  <a:pt x="1454926" y="1728729"/>
                  <a:pt x="1373409" y="1693158"/>
                  <a:pt x="1294912" y="1657587"/>
                </a:cubicBezTo>
                <a:cubicBezTo>
                  <a:pt x="1337180" y="1597117"/>
                  <a:pt x="1373409" y="1639802"/>
                  <a:pt x="1406620" y="1636245"/>
                </a:cubicBezTo>
                <a:cubicBezTo>
                  <a:pt x="1427754" y="1632688"/>
                  <a:pt x="1448887" y="1629132"/>
                  <a:pt x="1448887" y="1597117"/>
                </a:cubicBezTo>
                <a:cubicBezTo>
                  <a:pt x="1448887" y="1572219"/>
                  <a:pt x="1439830" y="1540204"/>
                  <a:pt x="1418696" y="1540204"/>
                </a:cubicBezTo>
                <a:cubicBezTo>
                  <a:pt x="1285854" y="1536647"/>
                  <a:pt x="1210375" y="1365909"/>
                  <a:pt x="1071494" y="1365909"/>
                </a:cubicBezTo>
                <a:cubicBezTo>
                  <a:pt x="986960" y="1365909"/>
                  <a:pt x="1113764" y="1269868"/>
                  <a:pt x="1044324" y="1230741"/>
                </a:cubicBezTo>
                <a:cubicBezTo>
                  <a:pt x="1029227" y="1220069"/>
                  <a:pt x="1086591" y="1205842"/>
                  <a:pt x="1110744" y="1209399"/>
                </a:cubicBezTo>
                <a:cubicBezTo>
                  <a:pt x="1134897" y="1212955"/>
                  <a:pt x="1156032" y="1237855"/>
                  <a:pt x="1186222" y="1220069"/>
                </a:cubicBezTo>
                <a:cubicBezTo>
                  <a:pt x="1201318" y="1156043"/>
                  <a:pt x="1162069" y="1131144"/>
                  <a:pt x="1125840" y="1113358"/>
                </a:cubicBezTo>
                <a:cubicBezTo>
                  <a:pt x="1047342" y="1070674"/>
                  <a:pt x="968844" y="1020875"/>
                  <a:pt x="881290" y="1006647"/>
                </a:cubicBezTo>
                <a:cubicBezTo>
                  <a:pt x="851099" y="1003089"/>
                  <a:pt x="832982" y="985305"/>
                  <a:pt x="836002" y="949734"/>
                </a:cubicBezTo>
                <a:cubicBezTo>
                  <a:pt x="842040" y="903491"/>
                  <a:pt x="872232" y="917720"/>
                  <a:pt x="896385" y="921277"/>
                </a:cubicBezTo>
                <a:cubicBezTo>
                  <a:pt x="911482" y="924835"/>
                  <a:pt x="926577" y="935506"/>
                  <a:pt x="941672" y="910606"/>
                </a:cubicBezTo>
                <a:cubicBezTo>
                  <a:pt x="588434" y="658055"/>
                  <a:pt x="401247" y="672284"/>
                  <a:pt x="5740" y="465975"/>
                </a:cubicBezTo>
                <a:cubicBezTo>
                  <a:pt x="93294" y="426847"/>
                  <a:pt x="156696" y="455303"/>
                  <a:pt x="217079" y="462417"/>
                </a:cubicBezTo>
                <a:cubicBezTo>
                  <a:pt x="368036" y="480203"/>
                  <a:pt x="274442" y="512216"/>
                  <a:pt x="425400" y="533558"/>
                </a:cubicBezTo>
                <a:cubicBezTo>
                  <a:pt x="497860" y="544229"/>
                  <a:pt x="564281" y="579800"/>
                  <a:pt x="645798" y="522887"/>
                </a:cubicBezTo>
                <a:cubicBezTo>
                  <a:pt x="700142" y="483759"/>
                  <a:pt x="787696" y="526444"/>
                  <a:pt x="854118" y="558458"/>
                </a:cubicBezTo>
                <a:cubicBezTo>
                  <a:pt x="908462" y="586915"/>
                  <a:pt x="962806" y="594028"/>
                  <a:pt x="1035266" y="558458"/>
                </a:cubicBezTo>
                <a:cubicBezTo>
                  <a:pt x="968844" y="537116"/>
                  <a:pt x="917520" y="519330"/>
                  <a:pt x="866193" y="505101"/>
                </a:cubicBezTo>
                <a:cubicBezTo>
                  <a:pt x="823926" y="494431"/>
                  <a:pt x="799772" y="469532"/>
                  <a:pt x="802792" y="416176"/>
                </a:cubicBezTo>
                <a:cubicBezTo>
                  <a:pt x="802792" y="387720"/>
                  <a:pt x="793735" y="348592"/>
                  <a:pt x="823926" y="334364"/>
                </a:cubicBezTo>
                <a:cubicBezTo>
                  <a:pt x="848079" y="320135"/>
                  <a:pt x="881290" y="334364"/>
                  <a:pt x="893366" y="359262"/>
                </a:cubicBezTo>
                <a:cubicBezTo>
                  <a:pt x="908462" y="405504"/>
                  <a:pt x="923557" y="448189"/>
                  <a:pt x="974883" y="451747"/>
                </a:cubicBezTo>
                <a:cubicBezTo>
                  <a:pt x="1044324" y="458860"/>
                  <a:pt x="1005074" y="430405"/>
                  <a:pt x="992998" y="394834"/>
                </a:cubicBezTo>
                <a:cubicBezTo>
                  <a:pt x="980921" y="355706"/>
                  <a:pt x="1017152" y="345034"/>
                  <a:pt x="1041304" y="352148"/>
                </a:cubicBezTo>
                <a:cubicBezTo>
                  <a:pt x="1131878" y="384162"/>
                  <a:pt x="1225472" y="327250"/>
                  <a:pt x="1319065" y="373491"/>
                </a:cubicBezTo>
                <a:cubicBezTo>
                  <a:pt x="1294912" y="259665"/>
                  <a:pt x="1243586" y="209867"/>
                  <a:pt x="1134897" y="192082"/>
                </a:cubicBezTo>
                <a:cubicBezTo>
                  <a:pt x="1095648" y="188525"/>
                  <a:pt x="1053380" y="195638"/>
                  <a:pt x="1017152" y="163625"/>
                </a:cubicBezTo>
                <a:cubicBezTo>
                  <a:pt x="996016" y="145839"/>
                  <a:pt x="974883" y="124497"/>
                  <a:pt x="989979" y="88927"/>
                </a:cubicBezTo>
                <a:cubicBezTo>
                  <a:pt x="999036" y="64027"/>
                  <a:pt x="1023188" y="64027"/>
                  <a:pt x="1044324" y="71141"/>
                </a:cubicBezTo>
                <a:cubicBezTo>
                  <a:pt x="1131878" y="110269"/>
                  <a:pt x="1225472" y="120941"/>
                  <a:pt x="1316045" y="135168"/>
                </a:cubicBezTo>
                <a:cubicBezTo>
                  <a:pt x="1331142" y="138725"/>
                  <a:pt x="1346237" y="145839"/>
                  <a:pt x="1361334" y="110269"/>
                </a:cubicBezTo>
                <a:cubicBezTo>
                  <a:pt x="1255664" y="78255"/>
                  <a:pt x="1153012" y="35571"/>
                  <a:pt x="1047342" y="0"/>
                </a:cubicBezTo>
                <a:close/>
              </a:path>
            </a:pathLst>
          </a:custGeom>
        </p:spPr>
      </p:pic>
      <p:sp>
        <p:nvSpPr>
          <p:cNvPr id="3" name="TextBox 2"/>
          <p:cNvSpPr txBox="1"/>
          <p:nvPr/>
        </p:nvSpPr>
        <p:spPr>
          <a:xfrm>
            <a:off x="571500" y="762000"/>
            <a:ext cx="5550693" cy="4810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lang="it-IT" sz="3300" b="1" i="0" u="none" noProof="0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Analisi dei Deficit Motori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1918245"/>
            <a:ext cx="5286375" cy="942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lang="it-IT" sz="1650" b="0" i="0" u="none" noProof="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Il filtraggio e confronto tra "Controllo" e "Parkinson" conferma specifici deficit della rete neurale basilare, estraendo marcatori diagnostici fondamentali.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3242220"/>
            <a:ext cx="5550693" cy="300082"/>
          </a:xfrm>
          <a:prstGeom prst="rect">
            <a:avLst/>
          </a:prstGeom>
          <a:noFill/>
        </p:spPr>
        <p:txBody>
          <a:bodyPr wrap="square" lIns="314325" tIns="0" rIns="0" bIns="0" anchor="t">
            <a:spAutoFit/>
          </a:bodyPr>
          <a:lstStyle/>
          <a:p>
            <a:pPr algn="l"/>
            <a:r>
              <a:rPr lang="it-IT" sz="1950" b="1" i="0" u="none" noProof="0" dirty="0">
                <a:solidFill>
                  <a:schemeClr val="accent3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Ipometria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3699420"/>
            <a:ext cx="5286375" cy="4882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lang="it-IT" sz="1350" b="0" i="0" u="none" noProof="0" dirty="0">
                <a:latin typeface="Arial" panose="020B0604020202020204" pitchFamily="34" charset="0"/>
                <a:cs typeface="Arial" panose="020B0604020202020204" pitchFamily="34" charset="0"/>
              </a:rPr>
              <a:t>Marcata riduzione dell'</a:t>
            </a:r>
            <a:r>
              <a:rPr lang="it-IT" sz="1350" b="1" i="0" u="none" noProof="0" dirty="0">
                <a:latin typeface="Arial" panose="020B0604020202020204" pitchFamily="34" charset="0"/>
                <a:cs typeface="Arial" panose="020B0604020202020204" pitchFamily="34" charset="0"/>
              </a:rPr>
              <a:t>Ampiezza</a:t>
            </a:r>
            <a:r>
              <a:rPr lang="it-IT" sz="1350" b="0" i="0" u="none" noProof="0" dirty="0">
                <a:latin typeface="Arial" panose="020B0604020202020204" pitchFamily="34" charset="0"/>
                <a:cs typeface="Arial" panose="020B0604020202020204" pitchFamily="34" charset="0"/>
              </a:rPr>
              <a:t> media. L'occhio non riesce a coprire la distanza del target visivo con un solo movimento coordinato.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4756695"/>
            <a:ext cx="5550693" cy="300082"/>
          </a:xfrm>
          <a:prstGeom prst="rect">
            <a:avLst/>
          </a:prstGeom>
          <a:noFill/>
        </p:spPr>
        <p:txBody>
          <a:bodyPr wrap="square" lIns="342900" tIns="0" rIns="0" bIns="0" anchor="t">
            <a:spAutoFit/>
          </a:bodyPr>
          <a:lstStyle/>
          <a:p>
            <a:pPr algn="l"/>
            <a:r>
              <a:rPr lang="it-IT" sz="1950" b="1" i="0" u="none" noProof="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Bradicinesia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5213895"/>
            <a:ext cx="5286375" cy="4882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lang="it-IT" sz="1350" b="0" i="0" u="none" noProof="0" dirty="0">
                <a:latin typeface="Arial" panose="020B0604020202020204" pitchFamily="34" charset="0"/>
                <a:cs typeface="Arial" panose="020B0604020202020204" pitchFamily="34" charset="0"/>
              </a:rPr>
              <a:t>Grave calo della </a:t>
            </a:r>
            <a:r>
              <a:rPr lang="it-IT" sz="1350" b="1" i="0" u="none" noProof="0" dirty="0">
                <a:latin typeface="Arial" panose="020B0604020202020204" pitchFamily="34" charset="0"/>
                <a:cs typeface="Arial" panose="020B0604020202020204" pitchFamily="34" charset="0"/>
              </a:rPr>
              <a:t>Velocità di Picco</a:t>
            </a:r>
            <a:r>
              <a:rPr lang="it-IT" sz="1350" b="0" i="0" u="none" noProof="0" dirty="0">
                <a:latin typeface="Arial" panose="020B0604020202020204" pitchFamily="34" charset="0"/>
                <a:cs typeface="Arial" panose="020B0604020202020204" pitchFamily="34" charset="0"/>
              </a:rPr>
              <a:t> (gradi/</a:t>
            </a:r>
            <a:r>
              <a:rPr lang="it-IT" sz="1350" b="0" i="0" u="none" noProof="0" dirty="0" err="1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it-IT" sz="1350" b="0" i="0" u="none" noProof="0" dirty="0">
                <a:latin typeface="Arial" panose="020B0604020202020204" pitchFamily="34" charset="0"/>
                <a:cs typeface="Arial" panose="020B0604020202020204" pitchFamily="34" charset="0"/>
              </a:rPr>
              <a:t>). Questo riflette il rallentamento motorio sistemico caratteristico della patologia.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280320"/>
            <a:ext cx="219075" cy="2476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794795"/>
            <a:ext cx="247650" cy="247650"/>
          </a:xfrm>
          <a:prstGeom prst="rect">
            <a:avLst/>
          </a:prstGeom>
        </p:spPr>
      </p:pic>
      <p:pic>
        <p:nvPicPr>
          <p:cNvPr id="12" name="Picture 3" descr="image.png">
            <a:extLst>
              <a:ext uri="{FF2B5EF4-FFF2-40B4-BE49-F238E27FC236}">
                <a16:creationId xmlns:a16="http://schemas.microsoft.com/office/drawing/2014/main" id="{570D11E0-0DB6-235D-5609-A9077A044EF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4708" y="17950"/>
            <a:ext cx="5842542" cy="684004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" descr="image.png">
            <a:extLst>
              <a:ext uri="{FF2B5EF4-FFF2-40B4-BE49-F238E27FC236}">
                <a16:creationId xmlns:a16="http://schemas.microsoft.com/office/drawing/2014/main" id="{5A9D8A0A-6A64-1EBC-A748-516CC053CF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62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76625" y="1147128"/>
            <a:ext cx="5238750" cy="9001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362"/>
              </a:lnSpc>
            </a:pPr>
            <a:r>
              <a:rPr lang="it-IT" sz="1575" b="0" i="0" u="none" noProof="0" dirty="0">
                <a:latin typeface="Arial" panose="020B0604020202020204" pitchFamily="34" charset="0"/>
                <a:cs typeface="Arial" panose="020B0604020202020204" pitchFamily="34" charset="0"/>
              </a:rPr>
              <a:t>Addestramento di un modello classificatore </a:t>
            </a:r>
            <a:r>
              <a:rPr lang="it-IT" sz="1575" b="0" i="1" u="none" noProof="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it-IT" sz="1575" b="0" i="1" u="none" noProof="0" dirty="0" err="1">
                <a:latin typeface="Arial" panose="020B0604020202020204" pitchFamily="34" charset="0"/>
                <a:cs typeface="Arial" panose="020B0604020202020204" pitchFamily="34" charset="0"/>
              </a:rPr>
              <a:t>Decision</a:t>
            </a:r>
            <a:r>
              <a:rPr lang="it-IT" sz="1575" b="0" i="1" u="none" noProof="0" dirty="0">
                <a:latin typeface="Arial" panose="020B0604020202020204" pitchFamily="34" charset="0"/>
                <a:cs typeface="Arial" panose="020B0604020202020204" pitchFamily="34" charset="0"/>
              </a:rPr>
              <a:t> Tree)</a:t>
            </a:r>
            <a:r>
              <a:rPr lang="it-IT" sz="1575" b="0" i="0" u="none" noProof="0" dirty="0">
                <a:latin typeface="Arial" panose="020B0604020202020204" pitchFamily="34" charset="0"/>
                <a:cs typeface="Arial" panose="020B0604020202020204" pitchFamily="34" charset="0"/>
              </a:rPr>
              <a:t> per prevedere la diagnosi patologica garantendo un'assoluta trasparenza interpretativa.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1562" y="2711533"/>
            <a:ext cx="4810125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lang="it-IT" sz="1500" b="1" i="0" u="none" noProof="0" dirty="0">
                <a:latin typeface="Arial" panose="020B0604020202020204" pitchFamily="34" charset="0"/>
                <a:cs typeface="Arial" panose="020B0604020202020204" pitchFamily="34" charset="0"/>
              </a:rPr>
              <a:t>Features (X):</a:t>
            </a:r>
            <a:r>
              <a:rPr lang="it-IT" sz="1500" b="0" i="0" u="none" noProof="0" dirty="0">
                <a:latin typeface="Arial" panose="020B0604020202020204" pitchFamily="34" charset="0"/>
                <a:cs typeface="Arial" panose="020B0604020202020204" pitchFamily="34" charset="0"/>
              </a:rPr>
              <a:t> Elaborazione dei vettori clinici di Latenza, Error Rate, Ampiezza e Velocità.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561" y="3825625"/>
            <a:ext cx="4810125" cy="5599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lang="it-IT" sz="1500" b="1" i="0" u="none" noProof="0" dirty="0">
                <a:latin typeface="Arial" panose="020B0604020202020204" pitchFamily="34" charset="0"/>
                <a:cs typeface="Arial" panose="020B0604020202020204" pitchFamily="34" charset="0"/>
              </a:rPr>
              <a:t>Regolarizzazione:</a:t>
            </a:r>
            <a:r>
              <a:rPr lang="it-IT" sz="1500" b="0" i="0" u="none" noProof="0" dirty="0">
                <a:latin typeface="Arial" panose="020B0604020202020204" pitchFamily="34" charset="0"/>
                <a:cs typeface="Arial" panose="020B0604020202020204" pitchFamily="34" charset="0"/>
              </a:rPr>
              <a:t> Profondità limitata (</a:t>
            </a:r>
            <a:r>
              <a:rPr lang="it-IT" sz="1500" b="0" i="1" u="none" noProof="0" dirty="0" err="1">
                <a:latin typeface="Arial" panose="020B0604020202020204" pitchFamily="34" charset="0"/>
                <a:cs typeface="Arial" panose="020B0604020202020204" pitchFamily="34" charset="0"/>
              </a:rPr>
              <a:t>MaxNumSplits</a:t>
            </a:r>
            <a:r>
              <a:rPr lang="it-IT" sz="1500" b="0" i="1" u="none" noProof="0" dirty="0">
                <a:latin typeface="Arial" panose="020B0604020202020204" pitchFamily="34" charset="0"/>
                <a:cs typeface="Arial" panose="020B0604020202020204" pitchFamily="34" charset="0"/>
              </a:rPr>
              <a:t> = 5</a:t>
            </a:r>
            <a:r>
              <a:rPr lang="it-IT" sz="1500" b="0" i="0" u="none" noProof="0" dirty="0">
                <a:latin typeface="Arial" panose="020B0604020202020204" pitchFamily="34" charset="0"/>
                <a:cs typeface="Arial" panose="020B0604020202020204" pitchFamily="34" charset="0"/>
              </a:rPr>
              <a:t>) per prevenire fenomeni di </a:t>
            </a:r>
            <a:r>
              <a:rPr lang="it-IT" sz="1500" b="0" i="0" u="none" noProof="0" dirty="0" err="1">
                <a:latin typeface="Arial" panose="020B0604020202020204" pitchFamily="34" charset="0"/>
                <a:cs typeface="Arial" panose="020B0604020202020204" pitchFamily="34" charset="0"/>
              </a:rPr>
              <a:t>overfitting</a:t>
            </a:r>
            <a:r>
              <a:rPr lang="it-IT" sz="1500" b="0" i="0" u="none" noProof="0" dirty="0">
                <a:latin typeface="Arial" panose="020B0604020202020204" pitchFamily="34" charset="0"/>
                <a:cs typeface="Arial" panose="020B0604020202020204" pitchFamily="34" charset="0"/>
              </a:rPr>
              <a:t> del classificatore.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561" y="4928178"/>
            <a:ext cx="4810125" cy="8660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lang="it-IT" sz="1500" b="1" i="0" u="none" noProof="0" dirty="0">
                <a:latin typeface="Arial" panose="020B0604020202020204" pitchFamily="34" charset="0"/>
                <a:cs typeface="Arial" panose="020B0604020202020204" pitchFamily="34" charset="0"/>
              </a:rPr>
              <a:t>Regole Mediche (Y):</a:t>
            </a:r>
            <a:r>
              <a:rPr lang="it-IT" sz="1500" b="0" i="0" u="none" noProof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1500" b="0" i="0" u="none" noProof="0" dirty="0" err="1">
                <a:latin typeface="Arial" panose="020B0604020202020204" pitchFamily="34" charset="0"/>
                <a:cs typeface="Arial" panose="020B0604020202020204" pitchFamily="34" charset="0"/>
              </a:rPr>
              <a:t>I'albero</a:t>
            </a:r>
            <a:r>
              <a:rPr lang="it-IT" sz="1500" b="0" i="0" u="none" noProof="0" dirty="0">
                <a:latin typeface="Arial" panose="020B0604020202020204" pitchFamily="34" charset="0"/>
                <a:cs typeface="Arial" panose="020B0604020202020204" pitchFamily="34" charset="0"/>
              </a:rPr>
              <a:t> decisionale finale traduce la logica in chiare regole cliniche "</a:t>
            </a:r>
            <a:r>
              <a:rPr lang="it-IT" sz="1500" noProof="0" dirty="0">
                <a:latin typeface="Arial" panose="020B0604020202020204" pitchFamily="34" charset="0"/>
                <a:cs typeface="Arial" panose="020B0604020202020204" pitchFamily="34" charset="0"/>
              </a:rPr>
              <a:t>Se allora</a:t>
            </a:r>
            <a:r>
              <a:rPr lang="it-IT" sz="1500" b="0" i="0" u="none" noProof="0" dirty="0">
                <a:latin typeface="Arial" panose="020B0604020202020204" pitchFamily="34" charset="0"/>
                <a:cs typeface="Arial" panose="020B0604020202020204" pitchFamily="34" charset="0"/>
              </a:rPr>
              <a:t>" facilmente consultabili.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873458"/>
            <a:ext cx="200025" cy="2476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488" y="3993510"/>
            <a:ext cx="285750" cy="2476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689" y="5113563"/>
            <a:ext cx="257175" cy="2476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8488" y="443501"/>
            <a:ext cx="11601450" cy="4810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959"/>
              </a:lnSpc>
            </a:pPr>
            <a:r>
              <a:rPr lang="it-IT" sz="3300" b="1" i="0" u="none" noProof="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Explainable</a:t>
            </a:r>
            <a:r>
              <a:rPr lang="it-IT" sz="3300" b="1" i="0" u="none" noProof="0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AI in Diagnostica</a:t>
            </a:r>
          </a:p>
        </p:txBody>
      </p:sp>
      <p:pic>
        <p:nvPicPr>
          <p:cNvPr id="16" name="Immagine 15">
            <a:extLst>
              <a:ext uri="{FF2B5EF4-FFF2-40B4-BE49-F238E27FC236}">
                <a16:creationId xmlns:a16="http://schemas.microsoft.com/office/drawing/2014/main" id="{9207CBD0-5257-418E-6499-FBCA429DB4B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83402" y="297613"/>
            <a:ext cx="2000110" cy="2000110"/>
          </a:xfrm>
          <a:prstGeom prst="ellipse">
            <a:avLst/>
          </a:prstGeom>
          <a:ln w="190500" cap="rnd">
            <a:solidFill>
              <a:srgbClr val="C8C6BD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pic>
        <p:nvPicPr>
          <p:cNvPr id="18" name="Immagine 17">
            <a:extLst>
              <a:ext uri="{FF2B5EF4-FFF2-40B4-BE49-F238E27FC236}">
                <a16:creationId xmlns:a16="http://schemas.microsoft.com/office/drawing/2014/main" id="{36E17C09-D116-0947-10C7-3C006059A42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8423" y="2830333"/>
            <a:ext cx="5322401" cy="301572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" descr="image.png">
            <a:extLst>
              <a:ext uri="{FF2B5EF4-FFF2-40B4-BE49-F238E27FC236}">
                <a16:creationId xmlns:a16="http://schemas.microsoft.com/office/drawing/2014/main" id="{B16E83FE-F3BD-76A6-9735-7EF73C6AF6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0" y="1616719"/>
            <a:ext cx="6286500" cy="45084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664469"/>
            <a:ext cx="4191000" cy="8889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1616719"/>
            <a:ext cx="419100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lang="it-IT" sz="1500" b="0" i="0" u="none" noProof="0" dirty="0">
                <a:solidFill>
                  <a:srgbClr val="12121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Ricreazione sintetica delle </a:t>
            </a:r>
            <a:r>
              <a:rPr lang="it-IT" sz="1500" b="0" i="0" u="none" noProof="0" dirty="0" err="1">
                <a:solidFill>
                  <a:srgbClr val="12121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saccadi</a:t>
            </a:r>
            <a:r>
              <a:rPr lang="it-IT" sz="1500" b="0" i="0" u="none" noProof="0" dirty="0">
                <a:solidFill>
                  <a:srgbClr val="12121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tramite funzioni sigmoidee( curva ad ‘S’) parametrizzate dal modello diagnostico.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9275" y="1911994"/>
            <a:ext cx="5695950" cy="39179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00125" y="3839170"/>
            <a:ext cx="3762375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lang="it-IT" sz="1500" b="1" i="0" u="none" noProof="0" dirty="0">
                <a:solidFill>
                  <a:srgbClr val="12121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Controllo:</a:t>
            </a:r>
            <a:r>
              <a:rPr lang="it-IT" sz="1500" b="0" i="0" u="none" noProof="0" dirty="0">
                <a:solidFill>
                  <a:srgbClr val="12121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Latenza (250ms), Ampiezza (22°).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125" y="4601170"/>
            <a:ext cx="3762375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lang="it-IT" sz="1500" b="1" i="0" u="none" noProof="0" dirty="0">
                <a:solidFill>
                  <a:srgbClr val="12121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Parkinson:</a:t>
            </a:r>
            <a:r>
              <a:rPr lang="it-IT" sz="1500" b="0" i="0" u="none" noProof="0" dirty="0">
                <a:solidFill>
                  <a:srgbClr val="12121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Elevata pendenza, Ipometria grave (12°).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0125" y="5363170"/>
            <a:ext cx="3762375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lang="it-IT" sz="1500" b="1" i="0" u="none" noProof="0" dirty="0">
                <a:solidFill>
                  <a:srgbClr val="12121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Alzheimer:</a:t>
            </a:r>
            <a:r>
              <a:rPr lang="it-IT" sz="1500" b="0" i="0" u="none" noProof="0" dirty="0">
                <a:solidFill>
                  <a:srgbClr val="12121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Ritardo severo (550ms) ma escursione conservata.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150" y="2923133"/>
            <a:ext cx="1791592" cy="382637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3867745"/>
            <a:ext cx="200025" cy="2476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4629745"/>
            <a:ext cx="200025" cy="2476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5391745"/>
            <a:ext cx="200025" cy="2476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71500" y="571500"/>
            <a:ext cx="11601450" cy="4810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lang="it-IT" sz="3300" b="1" i="0" u="none" noProof="0" dirty="0">
                <a:solidFill>
                  <a:srgbClr val="00508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Simulazione Oculomotoria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1" descr="image.png">
            <a:extLst>
              <a:ext uri="{FF2B5EF4-FFF2-40B4-BE49-F238E27FC236}">
                <a16:creationId xmlns:a16="http://schemas.microsoft.com/office/drawing/2014/main" id="{0CEB6B25-3486-9BA8-5C17-FA608AF21B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Confronto del trend di latenza tra i gruppi</a:t>
            </a:r>
            <a:endParaRPr lang="en-US" sz="2800" dirty="0">
              <a:solidFill>
                <a:schemeClr val="tx2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AEB9D4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Analisi eye-tracking su 10 blocchi cronologici del test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84048" y="1344168"/>
            <a:ext cx="6181344" cy="4990218"/>
          </a:xfrm>
          <a:prstGeom prst="rect">
            <a:avLst/>
          </a:prstGeom>
          <a:solidFill>
            <a:srgbClr val="0E1830"/>
          </a:solidFill>
          <a:ln w="12700">
            <a:solidFill>
              <a:srgbClr val="2C3B60"/>
            </a:solidFill>
            <a:prstDash val="solid"/>
          </a:ln>
          <a:effectLst>
            <a:outerShdw blurRad="1016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it-IT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Image 0" descr="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417320"/>
            <a:ext cx="6035040" cy="484391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12280" y="141732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Cosa mostra il grafico</a:t>
            </a:r>
            <a:endParaRPr lang="en-US" sz="1800" dirty="0">
              <a:solidFill>
                <a:schemeClr val="tx2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6812280" y="1810512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chemeClr val="tx2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Ogni linea rappresenta la latenza media di risposta (in millisecondi) di un gruppo di soggetti, misurata in 10 fasi successive dello stesso test di eye-tracking.</a:t>
            </a:r>
            <a:endParaRPr lang="en-US" sz="1350" dirty="0">
              <a:solidFill>
                <a:schemeClr val="tx2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6812280" y="2843784"/>
            <a:ext cx="146304" cy="146304"/>
          </a:xfrm>
          <a:prstGeom prst="ellipse">
            <a:avLst/>
          </a:prstGeom>
          <a:solidFill>
            <a:srgbClr val="9B4FC2"/>
          </a:solidFill>
          <a:ln/>
        </p:spPr>
        <p:txBody>
          <a:bodyPr/>
          <a:lstStyle/>
          <a:p>
            <a:endParaRPr lang="it-IT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7086600" y="2743200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030A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Alzheimer (n=10)</a:t>
            </a:r>
            <a:endParaRPr lang="en-US" sz="1400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7"/>
          <p:cNvSpPr txBox="1"/>
          <p:nvPr/>
        </p:nvSpPr>
        <p:spPr>
          <a:xfrm>
            <a:off x="7086600" y="3026664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latenza più alta (~550 ms), stabile nel tempo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6812280" y="3593592"/>
            <a:ext cx="146304" cy="146304"/>
          </a:xfrm>
          <a:prstGeom prst="ellipse">
            <a:avLst/>
          </a:prstGeom>
          <a:solidFill>
            <a:srgbClr val="E8681F"/>
          </a:solidFill>
          <a:ln/>
        </p:spPr>
        <p:txBody>
          <a:bodyPr/>
          <a:lstStyle/>
          <a:p>
            <a:endParaRPr lang="it-IT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9"/>
          <p:cNvSpPr txBox="1"/>
          <p:nvPr/>
        </p:nvSpPr>
        <p:spPr>
          <a:xfrm>
            <a:off x="7086600" y="3493008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C00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Parkinson (n=28)</a:t>
            </a:r>
            <a:endParaRPr lang="en-US" sz="1400" dirty="0">
              <a:solidFill>
                <a:srgbClr val="FFC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0"/>
          <p:cNvSpPr txBox="1"/>
          <p:nvPr/>
        </p:nvSpPr>
        <p:spPr>
          <a:xfrm>
            <a:off x="7086600" y="3776472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latenza intermedia (~440 ms), il gruppo più numeroso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6812280" y="4343400"/>
            <a:ext cx="146304" cy="146304"/>
          </a:xfrm>
          <a:prstGeom prst="ellipse">
            <a:avLst/>
          </a:prstGeom>
          <a:solidFill>
            <a:srgbClr val="1F8FE8"/>
          </a:solidFill>
          <a:ln/>
        </p:spPr>
        <p:txBody>
          <a:bodyPr/>
          <a:lstStyle/>
          <a:p>
            <a:endParaRPr lang="it-IT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2"/>
          <p:cNvSpPr txBox="1"/>
          <p:nvPr/>
        </p:nvSpPr>
        <p:spPr>
          <a:xfrm>
            <a:off x="7086600" y="4242816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Controllo (n=12)</a:t>
            </a:r>
            <a:endParaRPr lang="en-US" sz="1400" dirty="0">
              <a:solidFill>
                <a:schemeClr val="tx2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3"/>
          <p:cNvSpPr txBox="1"/>
          <p:nvPr/>
        </p:nvSpPr>
        <p:spPr>
          <a:xfrm>
            <a:off x="7086600" y="452628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latenza più bassa (~280 ms), i soggetti sani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6812280" y="5084064"/>
            <a:ext cx="4892040" cy="1417320"/>
          </a:xfrm>
          <a:prstGeom prst="rect">
            <a:avLst/>
          </a:prstGeom>
          <a:solidFill>
            <a:srgbClr val="121F3D"/>
          </a:solidFill>
          <a:ln w="12700">
            <a:solidFill>
              <a:srgbClr val="2C3B60"/>
            </a:solidFill>
            <a:prstDash val="solid"/>
          </a:ln>
        </p:spPr>
        <p:txBody>
          <a:bodyPr/>
          <a:lstStyle/>
          <a:p>
            <a:endParaRPr lang="it-IT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5"/>
          <p:cNvSpPr txBox="1"/>
          <p:nvPr/>
        </p:nvSpPr>
        <p:spPr>
          <a:xfrm>
            <a:off x="7013448" y="5202936"/>
            <a:ext cx="4489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F6FB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Perché è rilevante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6"/>
          <p:cNvSpPr txBox="1"/>
          <p:nvPr/>
        </p:nvSpPr>
        <p:spPr>
          <a:xfrm>
            <a:off x="7013448" y="5513832"/>
            <a:ext cx="4489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EB9D4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La netta separazione e la stabilità delle tre curve lungo tutte le fasi confermano che la latenza media è un indicatore coerente e riproducibile, utile a distinguere i gruppi clinici da quello di controllo a supporto diagnostico.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17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AEB9D4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Asse X: fasi del test (blocchi 1-10)  ·  Asse Y: latenza media (ms)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1" descr="image.png">
            <a:extLst>
              <a:ext uri="{FF2B5EF4-FFF2-40B4-BE49-F238E27FC236}">
                <a16:creationId xmlns:a16="http://schemas.microsoft.com/office/drawing/2014/main" id="{77D90800-1391-378E-8797-ADEBA0135F3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1" y="0"/>
            <a:ext cx="12191979" cy="6858000"/>
          </a:xfrm>
          <a:prstGeom prst="rect">
            <a:avLst/>
          </a:prstGeom>
        </p:spPr>
      </p:pic>
      <p:sp>
        <p:nvSpPr>
          <p:cNvPr id="2" name="Text 0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Referto Oculomotorio Automatico</a:t>
            </a:r>
            <a:endParaRPr lang="en-US" sz="3400" dirty="0">
              <a:solidFill>
                <a:schemeClr val="tx2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11274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5B6B6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Funzione MATLAB che genera in automatico un referto clinico testuale per il singolo paziente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45236" y="2286000"/>
            <a:ext cx="18288" cy="594360"/>
          </a:xfrm>
          <a:prstGeom prst="rect">
            <a:avLst/>
          </a:prstGeom>
          <a:solidFill>
            <a:srgbClr val="CFE8E6"/>
          </a:solidFill>
          <a:ln/>
        </p:spPr>
        <p:txBody>
          <a:bodyPr/>
          <a:lstStyle/>
          <a:p>
            <a:endParaRPr lang="it-IT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it-IT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50292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1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1234440" y="1728216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B3D42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Seleziona il paziente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1234440" y="207568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B6B6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Filtra il database in base all'ID_Paziente inserito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45236" y="3383280"/>
            <a:ext cx="18288" cy="594360"/>
          </a:xfrm>
          <a:prstGeom prst="rect">
            <a:avLst/>
          </a:prstGeom>
          <a:solidFill>
            <a:srgbClr val="CFE8E6"/>
          </a:solidFill>
          <a:ln/>
        </p:spPr>
        <p:txBody>
          <a:bodyPr/>
          <a:lstStyle/>
          <a:p>
            <a:endParaRPr lang="it-IT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02920" y="288036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it-IT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502920" y="2880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2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1234440" y="2825496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B3D42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Confronta con i controlli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1234440" y="317296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B6B6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Calcola latenza ed error rate medi vs il gruppo sano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45236" y="4480560"/>
            <a:ext cx="18288" cy="594360"/>
          </a:xfrm>
          <a:prstGeom prst="rect">
            <a:avLst/>
          </a:prstGeom>
          <a:solidFill>
            <a:srgbClr val="CFE8E6"/>
          </a:solidFill>
          <a:ln/>
        </p:spPr>
        <p:txBody>
          <a:bodyPr/>
          <a:lstStyle/>
          <a:p>
            <a:endParaRPr lang="it-IT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02920" y="397764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it-IT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50292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3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1234440" y="3922776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B3D42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Applica la regola clinica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1234440" y="427024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B6B6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Verifica se la latenza supera i controlli di oltre il 20%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02920" y="507492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it-IT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18"/>
          <p:cNvSpPr txBox="1"/>
          <p:nvPr/>
        </p:nvSpPr>
        <p:spPr>
          <a:xfrm>
            <a:off x="502920" y="5074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4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1234440" y="5020056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B3D42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Genera il referto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1234440" y="53675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B6B6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Scrive un file .txt con l'esito e la conclusione automatica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7452360" y="1783080"/>
            <a:ext cx="4279392" cy="4434840"/>
          </a:xfrm>
          <a:prstGeom prst="roundRect">
            <a:avLst>
              <a:gd name="adj" fmla="val 2564"/>
            </a:avLst>
          </a:prstGeom>
          <a:solidFill>
            <a:srgbClr val="E3F3F1"/>
          </a:solidFill>
          <a:ln/>
        </p:spPr>
        <p:txBody>
          <a:bodyPr/>
          <a:lstStyle/>
          <a:p>
            <a:endParaRPr lang="it-IT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 22"/>
          <p:cNvSpPr txBox="1"/>
          <p:nvPr/>
        </p:nvSpPr>
        <p:spPr>
          <a:xfrm>
            <a:off x="7763256" y="196467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02809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SOGLIA DI ALLERTA CLINICA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 24"/>
          <p:cNvSpPr txBox="1"/>
          <p:nvPr/>
        </p:nvSpPr>
        <p:spPr>
          <a:xfrm>
            <a:off x="7763256" y="436075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354044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Se la latenza media del paziente supera del 20% quella dei soggetti di controllo, il referto segnala automaticamente un rallentamento oculomotorio significativo.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 25"/>
          <p:cNvSpPr txBox="1"/>
          <p:nvPr/>
        </p:nvSpPr>
        <p:spPr>
          <a:xfrm>
            <a:off x="7772400" y="5394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A896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Output:  Referto_&lt;ID_Paziente&gt;.txt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Shape 23">
            <a:extLst>
              <a:ext uri="{FF2B5EF4-FFF2-40B4-BE49-F238E27FC236}">
                <a16:creationId xmlns:a16="http://schemas.microsoft.com/office/drawing/2014/main" id="{D8123BF6-BCA3-A8D1-0F00-2283B479A147}"/>
              </a:ext>
            </a:extLst>
          </p:cNvPr>
          <p:cNvSpPr/>
          <p:nvPr/>
        </p:nvSpPr>
        <p:spPr>
          <a:xfrm>
            <a:off x="8612124" y="2377440"/>
            <a:ext cx="1915199" cy="1911096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it-IT" dirty="0"/>
          </a:p>
        </p:txBody>
      </p:sp>
      <p:pic>
        <p:nvPicPr>
          <p:cNvPr id="33" name="Image 0" descr="preencoded.png">
            <a:extLst>
              <a:ext uri="{FF2B5EF4-FFF2-40B4-BE49-F238E27FC236}">
                <a16:creationId xmlns:a16="http://schemas.microsoft.com/office/drawing/2014/main" id="{AA7E9984-6A5D-E2EC-7A85-FEFAD6A458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4367" y="2738628"/>
            <a:ext cx="1188720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1" descr="image.png">
            <a:extLst>
              <a:ext uri="{FF2B5EF4-FFF2-40B4-BE49-F238E27FC236}">
                <a16:creationId xmlns:a16="http://schemas.microsoft.com/office/drawing/2014/main" id="{42DE750D-B666-E090-9A40-D4465ED8E8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5057541" y="254392"/>
            <a:ext cx="2076918" cy="1685778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it-IT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9263" y="433344"/>
            <a:ext cx="1327873" cy="1327873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2377440"/>
            <a:ext cx="11274552" cy="822960"/>
          </a:xfrm>
          <a:prstGeom prst="rect">
            <a:avLst/>
          </a:prstGeom>
          <a:noFill/>
          <a:ln/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it-IT" sz="4400" b="1" noProof="0" dirty="0">
                <a:solidFill>
                  <a:schemeClr val="tx2">
                    <a:lumMod val="75000"/>
                    <a:lumOff val="2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Grazie per l'attenzione</a:t>
            </a:r>
            <a:endParaRPr lang="it-IT" sz="4400" noProof="0" dirty="0">
              <a:solidFill>
                <a:schemeClr val="tx2">
                  <a:lumMod val="75000"/>
                  <a:lumOff val="2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2"/>
          <p:cNvSpPr txBox="1"/>
          <p:nvPr/>
        </p:nvSpPr>
        <p:spPr>
          <a:xfrm>
            <a:off x="457200" y="3337560"/>
            <a:ext cx="11274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it-IT" b="1" i="1" noProof="0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Movimenti oculari e malattie neurologiche </a:t>
            </a:r>
            <a:r>
              <a:rPr lang="it-IT" sz="1800" i="1" noProof="0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— Parkinson, Alzheimer, Controllo</a:t>
            </a:r>
            <a:endParaRPr lang="it-IT" sz="1800" i="1" noProof="0" dirty="0">
              <a:solidFill>
                <a:schemeClr val="tx2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3"/>
          <p:cNvSpPr txBox="1"/>
          <p:nvPr/>
        </p:nvSpPr>
        <p:spPr>
          <a:xfrm>
            <a:off x="564930" y="443484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it-IT" sz="1300" i="1" noProof="0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De Marco Edoardo  ·   Salvo Giuseppe</a:t>
            </a:r>
            <a:endParaRPr lang="it-IT" sz="1300" noProof="0" dirty="0">
              <a:solidFill>
                <a:schemeClr val="tx2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457200" y="516636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it-IT" sz="1300" noProof="0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Università degli Studi di Messina</a:t>
            </a:r>
          </a:p>
          <a:p>
            <a:pPr marL="0" indent="0" algn="ctr">
              <a:buNone/>
            </a:pPr>
            <a:r>
              <a:rPr lang="it-IT" sz="1300" noProof="0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Ingegneria Biomedica</a:t>
            </a:r>
          </a:p>
        </p:txBody>
      </p:sp>
      <p:sp>
        <p:nvSpPr>
          <p:cNvPr id="8" name="Shape 5"/>
          <p:cNvSpPr/>
          <p:nvPr/>
        </p:nvSpPr>
        <p:spPr>
          <a:xfrm>
            <a:off x="5637276" y="5897880"/>
            <a:ext cx="914400" cy="502920"/>
          </a:xfrm>
          <a:prstGeom prst="rect">
            <a:avLst/>
          </a:prstGeom>
          <a:ln w="12700">
            <a:solidFill>
              <a:srgbClr val="CADCFC"/>
            </a:solidFill>
            <a:prstDash val="dash"/>
          </a:ln>
        </p:spPr>
        <p:txBody>
          <a:bodyPr/>
          <a:lstStyle/>
          <a:p>
            <a:endParaRPr lang="it-IT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E51341A4-DA27-56EF-FF36-9775D1232B9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-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637276" y="5621402"/>
            <a:ext cx="1129860" cy="114443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dir="5400000" sx="6000" sy="6000" rotWithShape="0">
              <a:schemeClr val="bg1">
                <a:alpha val="0"/>
              </a:scheme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84679d45-8346-4e23-8c84-a7304edba77f}" enabled="0" method="" siteId="{84679d45-8346-4e23-8c84-a7304edba77f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567</TotalTime>
  <Words>1510</Words>
  <Application>Microsoft Macintosh PowerPoint</Application>
  <PresentationFormat>Widescreen</PresentationFormat>
  <Paragraphs>197</Paragraphs>
  <Slides>22</Slides>
  <Notes>6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9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22</vt:i4>
      </vt:variant>
    </vt:vector>
  </HeadingPairs>
  <TitlesOfParts>
    <vt:vector size="32" baseType="lpstr">
      <vt:lpstr>Aptos</vt:lpstr>
      <vt:lpstr>Aptos Display</vt:lpstr>
      <vt:lpstr>Arial</vt:lpstr>
      <vt:lpstr>Calibri</vt:lpstr>
      <vt:lpstr>DM Sans</vt:lpstr>
      <vt:lpstr>Inter</vt:lpstr>
      <vt:lpstr>Inter Medium</vt:lpstr>
      <vt:lpstr>Inter SemiBold</vt:lpstr>
      <vt:lpstr>Merriweather</vt:lpstr>
      <vt:lpstr>Tema di Office</vt:lpstr>
      <vt:lpstr>Movimenti oculari e malattie neurologiche  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GIUSEPPE SALVO 578247</dc:creator>
  <cp:lastModifiedBy>GIUSEPPE SALVO 578247</cp:lastModifiedBy>
  <cp:revision>2</cp:revision>
  <dcterms:created xsi:type="dcterms:W3CDTF">2026-08-24T14:51:57Z</dcterms:created>
  <dcterms:modified xsi:type="dcterms:W3CDTF">2026-08-31T21:47:23Z</dcterms:modified>
</cp:coreProperties>
</file>